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9" r:id="rId2"/>
    <p:sldId id="262" r:id="rId3"/>
    <p:sldId id="306" r:id="rId4"/>
    <p:sldId id="307" r:id="rId5"/>
    <p:sldId id="317" r:id="rId6"/>
    <p:sldId id="258" r:id="rId7"/>
    <p:sldId id="318" r:id="rId8"/>
    <p:sldId id="319" r:id="rId9"/>
    <p:sldId id="281" r:id="rId10"/>
    <p:sldId id="272" r:id="rId11"/>
    <p:sldId id="292" r:id="rId12"/>
    <p:sldId id="295" r:id="rId13"/>
    <p:sldId id="315" r:id="rId14"/>
    <p:sldId id="275" r:id="rId15"/>
    <p:sldId id="290" r:id="rId16"/>
    <p:sldId id="320" r:id="rId17"/>
    <p:sldId id="321" r:id="rId18"/>
    <p:sldId id="277" r:id="rId19"/>
    <p:sldId id="291" r:id="rId2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EC3"/>
    <a:srgbClr val="FFFFFF"/>
    <a:srgbClr val="FFCCFF"/>
    <a:srgbClr val="FF99FF"/>
    <a:srgbClr val="FF33CC"/>
    <a:srgbClr val="FF6600"/>
    <a:srgbClr val="FF3300"/>
    <a:srgbClr val="FF99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91" autoAdjust="0"/>
    <p:restoredTop sz="76840" autoAdjust="0"/>
  </p:normalViewPr>
  <p:slideViewPr>
    <p:cSldViewPr>
      <p:cViewPr varScale="1">
        <p:scale>
          <a:sx n="56" d="100"/>
          <a:sy n="56" d="100"/>
        </p:scale>
        <p:origin x="18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58FCD-4667-46EA-845A-8A4EEF6718FD}" type="datetimeFigureOut">
              <a:rPr lang="fr-FR" smtClean="0"/>
              <a:pPr/>
              <a:t>18/12/2017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708A8E-7DFB-4A2E-B3BA-72A102A91B3B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4979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478"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5E65A7-0C81-473B-92EA-DD7241241852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51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</a:pPr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5E65A7-0C81-473B-92EA-DD7241241852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80375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3109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2892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2138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9671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sz="120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89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 smtClean="0">
              <a:ea typeface="宋体" pitchFamily="2" charset="-122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212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Voici notre diagramme de classe qui explique les étapes de la conception de l'application. Vous pouvez voir ici différents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ables qu' on a utilisé pour notre application .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Donc on a  classe: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986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Je passe  maintenant à l’aspect dynamique a</a:t>
            </a:r>
            <a:r>
              <a:rPr lang="fr-FR" sz="1200" strike="noStrike" spc="-1" baseline="0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 travers </a:t>
            </a:r>
            <a:r>
              <a:rPr lang="fr-FR" sz="1200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 la description de diagramme  de séquence, après le</a:t>
            </a:r>
            <a:r>
              <a:rPr lang="fr-FR" sz="1200" strike="noStrike" spc="-1" baseline="0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 </a:t>
            </a:r>
            <a:r>
              <a:rPr lang="fr-FR" sz="1200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lancement</a:t>
            </a:r>
            <a:r>
              <a:rPr lang="fr-FR" sz="1200" strike="noStrike" spc="-1" baseline="0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 de </a:t>
            </a:r>
            <a:r>
              <a:rPr lang="fr-FR" sz="1200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 l’application </a:t>
            </a:r>
            <a:endParaRPr lang="fr-FR" dirty="0" smtClean="0"/>
          </a:p>
          <a:p>
            <a:r>
              <a:rPr lang="fr-FR" sz="1200" strike="noStrike" spc="-1" baseline="0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le </a:t>
            </a:r>
            <a:r>
              <a:rPr lang="fr-FR" sz="1200" strike="noStrike" spc="-1" baseline="0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médecin</a:t>
            </a:r>
            <a:r>
              <a:rPr lang="fr-FR" sz="1200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 </a:t>
            </a:r>
            <a:r>
              <a:rPr lang="fr-FR" sz="1200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saisie ses</a:t>
            </a:r>
            <a:r>
              <a:rPr lang="fr-FR" sz="1200" strike="noStrike" spc="-1" baseline="0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 </a:t>
            </a:r>
            <a:r>
              <a:rPr lang="fr-FR" sz="1200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cordonnées</a:t>
            </a:r>
            <a:r>
              <a:rPr lang="fr-FR" sz="1200" strike="noStrike" spc="-1" baseline="0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 </a:t>
            </a:r>
            <a:r>
              <a:rPr lang="fr-FR" sz="1200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 dans l’interface de l’authentification , après la</a:t>
            </a:r>
            <a:r>
              <a:rPr lang="fr-FR" sz="1200" strike="noStrike" spc="-1" baseline="0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 vérification dans la base de données l’utilisateur reçoit un message </a:t>
            </a:r>
            <a:r>
              <a:rPr lang="fr-FR" sz="1200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:  </a:t>
            </a:r>
          </a:p>
          <a:p>
            <a:pPr>
              <a:lnSpc>
                <a:spcPct val="100000"/>
              </a:lnSpc>
            </a:pPr>
            <a:r>
              <a:rPr lang="fr-FR" sz="1200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soit  message de confirmation</a:t>
            </a:r>
          </a:p>
          <a:p>
            <a:pPr>
              <a:lnSpc>
                <a:spcPct val="100000"/>
              </a:lnSpc>
            </a:pPr>
            <a:r>
              <a:rPr lang="fr-FR" sz="1200" strike="noStrike" spc="-1" dirty="0" smtClean="0">
                <a:uFill>
                  <a:solidFill>
                    <a:srgbClr val="FFFFFF"/>
                  </a:solidFill>
                </a:uFill>
                <a:latin typeface="Arial"/>
                <a:ea typeface="宋体"/>
              </a:rPr>
              <a:t>Soit  message d’erreur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7830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923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9833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7650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8229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76439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708A8E-7DFB-4A2E-B3BA-72A102A91B3B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1017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6CF47F4-DF15-4B21-A4AD-2C7C310FF3CF}" type="datetime1">
              <a:rPr lang="fr-FR" smtClean="0"/>
              <a:pPr/>
              <a:t>18/12/2017</a:t>
            </a:fld>
            <a:endParaRPr lang="fr-BE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fr-BE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F73645ED-9E4B-48B9-AE1F-C8EF94363C14}" type="datetime1">
              <a:rPr lang="fr-FR" smtClean="0"/>
              <a:pPr/>
              <a:t>18/12/2017</a:t>
            </a:fld>
            <a:endParaRPr lang="fr-BE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BE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B66DBE72-F0B7-45D7-A5FB-916CAA4792C8}" type="datetime1">
              <a:rPr lang="fr-FR" smtClean="0"/>
              <a:pPr/>
              <a:t>18/12/2017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fr-BE" dirty="0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F9933-4F1D-4179-BCFF-20A1D7990E51}" type="datetime1">
              <a:rPr lang="fr-FR" smtClean="0"/>
              <a:pPr/>
              <a:t>18/12/2017</a:t>
            </a:fld>
            <a:endParaRPr lang="fr-BE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E6C4C-E12A-4FB0-89DF-B9ED850554DE}" type="datetime1">
              <a:rPr lang="fr-FR" smtClean="0"/>
              <a:pPr/>
              <a:t>18/12/2017</a:t>
            </a:fld>
            <a:endParaRPr lang="fr-BE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9A76822-ACB2-43D8-A981-A1DCB3EC600D}" type="datetime1">
              <a:rPr lang="fr-FR" smtClean="0"/>
              <a:pPr/>
              <a:t>18/12/2017</a:t>
            </a:fld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BE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A9A1-C72D-4639-9423-CB9414EF7767}" type="datetime1">
              <a:rPr lang="fr-FR" smtClean="0"/>
              <a:pPr/>
              <a:t>18/12/2017</a:t>
            </a:fld>
            <a:endParaRPr lang="fr-BE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ADC6E18-2AC4-4574-A991-F66F144A541B}" type="datetime1">
              <a:rPr lang="fr-FR" smtClean="0"/>
              <a:pPr/>
              <a:t>18/12/2017</a:t>
            </a:fld>
            <a:endParaRPr lang="fr-BE" dirty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 dirty="0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BE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 dirty="0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AA52C6-009A-4380-A835-E561C1BAFF6A}" type="datetime1">
              <a:rPr lang="fr-FR" smtClean="0"/>
              <a:pPr/>
              <a:t>18/12/2017</a:t>
            </a:fld>
            <a:endParaRPr lang="fr-BE" dirty="0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 dirty="0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BE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93996-FB77-4AB7-8FB9-01A3E39555E5}" type="datetime1">
              <a:rPr lang="fr-FR" smtClean="0"/>
              <a:pPr/>
              <a:t>18/12/2017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6E58B-0AD1-43EF-A7F7-F64DB9B28F5E}" type="datetime1">
              <a:rPr lang="fr-FR" smtClean="0"/>
              <a:pPr/>
              <a:t>18/12/2017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AEB693-D4B4-4831-9755-FAC082E8280E}" type="datetime1">
              <a:rPr lang="fr-FR" smtClean="0"/>
              <a:pPr/>
              <a:t>18/12/2017</a:t>
            </a:fld>
            <a:endParaRPr lang="fr-BE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fr-BE" dirty="0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jpe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195736" y="2247509"/>
            <a:ext cx="6101759" cy="1352065"/>
          </a:xfrm>
          <a:prstGeom prst="rect">
            <a:avLst/>
          </a:prstGeom>
          <a:solidFill>
            <a:srgbClr val="CCFFFF">
              <a:alpha val="10980"/>
            </a:srgbClr>
          </a:solidFill>
          <a:ln w="9525">
            <a:solidFill>
              <a:srgbClr val="D2EAEC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rtl="1">
              <a:defRPr/>
            </a:pPr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Conception et réalisation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d’une application </a:t>
            </a:r>
          </a:p>
          <a:p>
            <a:pPr algn="ctr" rtl="1">
              <a:defRPr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bureautique de Gestion de Cabinet Médical</a:t>
            </a:r>
          </a:p>
          <a:p>
            <a:pPr algn="ctr" rtl="1">
              <a:defRPr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 GCM » </a:t>
            </a:r>
          </a:p>
        </p:txBody>
      </p:sp>
      <p:sp>
        <p:nvSpPr>
          <p:cNvPr id="14" name="Freeform 10"/>
          <p:cNvSpPr>
            <a:spLocks/>
          </p:cNvSpPr>
          <p:nvPr/>
        </p:nvSpPr>
        <p:spPr bwMode="auto">
          <a:xfrm>
            <a:off x="468313" y="188913"/>
            <a:ext cx="12700" cy="6459537"/>
          </a:xfrm>
          <a:custGeom>
            <a:avLst/>
            <a:gdLst>
              <a:gd name="T0" fmla="*/ 0 w 8"/>
              <a:gd name="T1" fmla="*/ 0 h 4069"/>
              <a:gd name="T2" fmla="*/ 2147483647 w 8"/>
              <a:gd name="T3" fmla="*/ 2147483647 h 4069"/>
              <a:gd name="T4" fmla="*/ 2147483647 w 8"/>
              <a:gd name="T5" fmla="*/ 2147483647 h 4069"/>
              <a:gd name="T6" fmla="*/ 0 60000 65536"/>
              <a:gd name="T7" fmla="*/ 0 60000 65536"/>
              <a:gd name="T8" fmla="*/ 0 60000 65536"/>
              <a:gd name="T9" fmla="*/ 0 w 8"/>
              <a:gd name="T10" fmla="*/ 0 h 4069"/>
              <a:gd name="T11" fmla="*/ 8 w 8"/>
              <a:gd name="T12" fmla="*/ 4069 h 40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" h="4069">
                <a:moveTo>
                  <a:pt x="0" y="0"/>
                </a:moveTo>
                <a:lnTo>
                  <a:pt x="8" y="3116"/>
                </a:lnTo>
                <a:lnTo>
                  <a:pt x="8" y="4069"/>
                </a:lnTo>
              </a:path>
            </a:pathLst>
          </a:custGeom>
          <a:noFill/>
          <a:ln w="76200" cap="rnd">
            <a:solidFill>
              <a:srgbClr val="D2EAEC"/>
            </a:solidFill>
            <a:prstDash val="sysDot"/>
            <a:round/>
            <a:headEnd/>
            <a:tailEnd/>
          </a:ln>
        </p:spPr>
        <p:txBody>
          <a:bodyPr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 dirty="0"/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523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</a:t>
            </a:r>
            <a:endParaRPr kumimoji="0" lang="fr-FR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zh-CN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 </a:t>
            </a:r>
            <a:r>
              <a:rPr kumimoji="0" lang="fr-FR" altLang="zh-CN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fr-FR" altLang="zh-CN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</a:t>
            </a:fld>
            <a:r>
              <a:rPr lang="fr-BE" dirty="0" smtClean="0"/>
              <a:t>/19</a:t>
            </a:r>
            <a:endParaRPr lang="fr-BE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659" y="280798"/>
            <a:ext cx="958366" cy="780621"/>
          </a:xfrm>
          <a:prstGeom prst="rect">
            <a:avLst/>
          </a:prstGeom>
        </p:spPr>
      </p:pic>
      <p:sp>
        <p:nvSpPr>
          <p:cNvPr id="15" name="TextBox 21"/>
          <p:cNvSpPr txBox="1"/>
          <p:nvPr/>
        </p:nvSpPr>
        <p:spPr>
          <a:xfrm>
            <a:off x="2108727" y="332484"/>
            <a:ext cx="5472608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 Supérieure  d’Informatique et des Techniques</a:t>
            </a:r>
          </a:p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Communication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050" dirty="0"/>
          </a:p>
        </p:txBody>
      </p:sp>
      <p:sp>
        <p:nvSpPr>
          <p:cNvPr id="20" name="ZoneTexte 19"/>
          <p:cNvSpPr txBox="1"/>
          <p:nvPr/>
        </p:nvSpPr>
        <p:spPr>
          <a:xfrm>
            <a:off x="5454045" y="4254534"/>
            <a:ext cx="3063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Projet JAVA  Réalisé par :</a:t>
            </a:r>
          </a:p>
          <a:p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5935252" y="4723806"/>
            <a:ext cx="21651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Ayadi khouloud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Salhi Roufaida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Ferchichi Afef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Zammel Manel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1 DNI 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5CA2FE6-AA34-47F2-8D0C-59DA063A4778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8" name="Arc 53"/>
          <p:cNvSpPr>
            <a:spLocks/>
          </p:cNvSpPr>
          <p:nvPr/>
        </p:nvSpPr>
        <p:spPr bwMode="auto">
          <a:xfrm>
            <a:off x="714348" y="785794"/>
            <a:ext cx="2286016" cy="5143536"/>
          </a:xfrm>
          <a:custGeom>
            <a:avLst/>
            <a:gdLst>
              <a:gd name="T0" fmla="*/ 2147483647 w 23745"/>
              <a:gd name="T1" fmla="*/ 0 h 43200"/>
              <a:gd name="T2" fmla="*/ 0 w 23745"/>
              <a:gd name="T3" fmla="*/ 2147483647 h 43200"/>
              <a:gd name="T4" fmla="*/ 2147483647 w 23745"/>
              <a:gd name="T5" fmla="*/ 2147483647 h 43200"/>
              <a:gd name="T6" fmla="*/ 0 60000 65536"/>
              <a:gd name="T7" fmla="*/ 0 60000 65536"/>
              <a:gd name="T8" fmla="*/ 0 60000 65536"/>
              <a:gd name="T9" fmla="*/ 0 w 23745"/>
              <a:gd name="T10" fmla="*/ 0 h 43200"/>
              <a:gd name="T11" fmla="*/ 23745 w 23745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745" h="43200" fill="none" extrusionOk="0">
                <a:moveTo>
                  <a:pt x="2144" y="0"/>
                </a:moveTo>
                <a:cubicBezTo>
                  <a:pt x="14074" y="0"/>
                  <a:pt x="23745" y="9670"/>
                  <a:pt x="23745" y="21600"/>
                </a:cubicBezTo>
                <a:cubicBezTo>
                  <a:pt x="23745" y="33529"/>
                  <a:pt x="14074" y="43200"/>
                  <a:pt x="2145" y="43200"/>
                </a:cubicBezTo>
                <a:cubicBezTo>
                  <a:pt x="1428" y="43200"/>
                  <a:pt x="712" y="43164"/>
                  <a:pt x="-1" y="43093"/>
                </a:cubicBezTo>
              </a:path>
              <a:path w="23745" h="43200" stroke="0" extrusionOk="0">
                <a:moveTo>
                  <a:pt x="2144" y="0"/>
                </a:moveTo>
                <a:cubicBezTo>
                  <a:pt x="14074" y="0"/>
                  <a:pt x="23745" y="9670"/>
                  <a:pt x="23745" y="21600"/>
                </a:cubicBezTo>
                <a:cubicBezTo>
                  <a:pt x="23745" y="33529"/>
                  <a:pt x="14074" y="43200"/>
                  <a:pt x="2145" y="43200"/>
                </a:cubicBezTo>
                <a:cubicBezTo>
                  <a:pt x="1428" y="43200"/>
                  <a:pt x="712" y="43164"/>
                  <a:pt x="-1" y="43093"/>
                </a:cubicBezTo>
                <a:lnTo>
                  <a:pt x="2145" y="21600"/>
                </a:lnTo>
                <a:close/>
              </a:path>
            </a:pathLst>
          </a:custGeom>
          <a:noFill/>
          <a:ln w="76200" cap="rnd">
            <a:solidFill>
              <a:srgbClr val="6699FF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pPr algn="r" rtl="1">
              <a:defRPr/>
            </a:pPr>
            <a:endParaRPr lang="fr-FR" sz="1800" b="0" i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928662" y="214290"/>
            <a:ext cx="7392988" cy="563562"/>
          </a:xfrm>
        </p:spPr>
        <p:txBody>
          <a:bodyPr lIns="95782" tIns="47891" rIns="95782" bIns="47891">
            <a:normAutofit/>
          </a:bodyPr>
          <a:lstStyle/>
          <a:p>
            <a:pPr eaLnBrk="1" hangingPunct="1">
              <a:defRPr/>
            </a:pPr>
            <a:r>
              <a:rPr lang="fr-FR" dirty="0" smtClean="0"/>
              <a:t>Plan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ltGray">
          <a:xfrm>
            <a:off x="3214678" y="2357430"/>
            <a:ext cx="4786345" cy="64293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699FF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>
            <a:softEdge rad="12700"/>
          </a:effectLst>
        </p:spPr>
        <p:txBody>
          <a:bodyPr wrap="none" anchor="ctr"/>
          <a:lstStyle/>
          <a:p>
            <a:pPr>
              <a:defRPr/>
            </a:pPr>
            <a:r>
              <a:rPr lang="it-IT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Etude de l’existant</a:t>
            </a:r>
            <a:endParaRPr lang="fr-FR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000232" y="1714488"/>
            <a:ext cx="500063" cy="501650"/>
            <a:chOff x="1583" y="1494"/>
            <a:chExt cx="526" cy="526"/>
          </a:xfrm>
        </p:grpSpPr>
        <p:sp>
          <p:nvSpPr>
            <p:cNvPr id="12" name="Oval 6"/>
            <p:cNvSpPr>
              <a:spLocks noChangeArrowheads="1"/>
            </p:cNvSpPr>
            <p:nvPr/>
          </p:nvSpPr>
          <p:spPr bwMode="gray">
            <a:xfrm>
              <a:off x="1583" y="1494"/>
              <a:ext cx="526" cy="52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Oval 7"/>
            <p:cNvSpPr>
              <a:spLocks noChangeArrowheads="1"/>
            </p:cNvSpPr>
            <p:nvPr/>
          </p:nvSpPr>
          <p:spPr bwMode="gray">
            <a:xfrm>
              <a:off x="1635" y="1547"/>
              <a:ext cx="424" cy="42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577592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Oval 8"/>
            <p:cNvSpPr>
              <a:spLocks noChangeArrowheads="1"/>
            </p:cNvSpPr>
            <p:nvPr/>
          </p:nvSpPr>
          <p:spPr bwMode="gray">
            <a:xfrm>
              <a:off x="1641" y="1557"/>
              <a:ext cx="406" cy="40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6182A2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Oval 9"/>
            <p:cNvSpPr>
              <a:spLocks noChangeArrowheads="1"/>
            </p:cNvSpPr>
            <p:nvPr/>
          </p:nvSpPr>
          <p:spPr bwMode="gray">
            <a:xfrm>
              <a:off x="1651" y="1582"/>
              <a:ext cx="266" cy="26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Oval 10"/>
            <p:cNvSpPr>
              <a:spLocks noChangeArrowheads="1"/>
            </p:cNvSpPr>
            <p:nvPr/>
          </p:nvSpPr>
          <p:spPr bwMode="gray">
            <a:xfrm>
              <a:off x="1660" y="1571"/>
              <a:ext cx="366" cy="36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7" name="AutoShape 11"/>
          <p:cNvSpPr>
            <a:spLocks noChangeArrowheads="1"/>
          </p:cNvSpPr>
          <p:nvPr/>
        </p:nvSpPr>
        <p:spPr bwMode="ltGray">
          <a:xfrm>
            <a:off x="2285984" y="857232"/>
            <a:ext cx="4826000" cy="62071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699FF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>
            <a:softEdge rad="12700"/>
          </a:effectLst>
        </p:spPr>
        <p:txBody>
          <a:bodyPr wrap="none" anchor="ctr"/>
          <a:lstStyle/>
          <a:p>
            <a:pPr>
              <a:defRPr/>
            </a:pPr>
            <a:r>
              <a:rPr lang="fr-FR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générale </a:t>
            </a: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1357290" y="1000108"/>
            <a:ext cx="501650" cy="501650"/>
            <a:chOff x="1583" y="1494"/>
            <a:chExt cx="526" cy="526"/>
          </a:xfrm>
        </p:grpSpPr>
        <p:sp>
          <p:nvSpPr>
            <p:cNvPr id="19" name="Oval 13"/>
            <p:cNvSpPr>
              <a:spLocks noChangeArrowheads="1"/>
            </p:cNvSpPr>
            <p:nvPr/>
          </p:nvSpPr>
          <p:spPr bwMode="gray">
            <a:xfrm>
              <a:off x="1583" y="1494"/>
              <a:ext cx="526" cy="526"/>
            </a:xfrm>
            <a:prstGeom prst="ellipse">
              <a:avLst/>
            </a:prstGeom>
            <a:solidFill>
              <a:schemeClr val="accent1"/>
            </a:soli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Oval 14"/>
            <p:cNvSpPr>
              <a:spLocks noChangeArrowheads="1"/>
            </p:cNvSpPr>
            <p:nvPr/>
          </p:nvSpPr>
          <p:spPr bwMode="gray">
            <a:xfrm>
              <a:off x="1635" y="1547"/>
              <a:ext cx="424" cy="424"/>
            </a:xfrm>
            <a:prstGeom prst="ellipse">
              <a:avLst/>
            </a:prstGeom>
            <a:gradFill rotWithShape="1">
              <a:gsLst>
                <a:gs pos="0">
                  <a:srgbClr val="10E470"/>
                </a:gs>
                <a:gs pos="100000">
                  <a:srgbClr val="098340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Oval 15"/>
            <p:cNvSpPr>
              <a:spLocks noChangeArrowheads="1"/>
            </p:cNvSpPr>
            <p:nvPr/>
          </p:nvSpPr>
          <p:spPr bwMode="gray">
            <a:xfrm>
              <a:off x="1641" y="1557"/>
              <a:ext cx="406" cy="406"/>
            </a:xfrm>
            <a:prstGeom prst="ellipse">
              <a:avLst/>
            </a:prstGeom>
            <a:gradFill rotWithShape="1">
              <a:gsLst>
                <a:gs pos="0">
                  <a:srgbClr val="FFFF00">
                    <a:alpha val="85001"/>
                  </a:srgbClr>
                </a:gs>
                <a:gs pos="100000">
                  <a:srgbClr val="A2A200"/>
                </a:gs>
              </a:gsLst>
              <a:lin ang="2700000" scaled="1"/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2" name="Oval 16"/>
            <p:cNvSpPr>
              <a:spLocks noChangeArrowheads="1"/>
            </p:cNvSpPr>
            <p:nvPr/>
          </p:nvSpPr>
          <p:spPr bwMode="gray">
            <a:xfrm>
              <a:off x="1651" y="1582"/>
              <a:ext cx="266" cy="266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Oval 17"/>
            <p:cNvSpPr>
              <a:spLocks noChangeArrowheads="1"/>
            </p:cNvSpPr>
            <p:nvPr/>
          </p:nvSpPr>
          <p:spPr bwMode="gray">
            <a:xfrm>
              <a:off x="1660" y="1571"/>
              <a:ext cx="366" cy="36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4" name="AutoShape 18"/>
          <p:cNvSpPr>
            <a:spLocks noChangeArrowheads="1"/>
          </p:cNvSpPr>
          <p:nvPr/>
        </p:nvSpPr>
        <p:spPr bwMode="ltGray">
          <a:xfrm>
            <a:off x="3214678" y="3157722"/>
            <a:ext cx="5245754" cy="64293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699FF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>
            <a:softEdge rad="12700"/>
          </a:effectLst>
        </p:spPr>
        <p:txBody>
          <a:bodyPr wrap="none" anchor="ctr"/>
          <a:lstStyle/>
          <a:p>
            <a:pPr algn="just">
              <a:defRPr/>
            </a:pPr>
            <a:r>
              <a:rPr lang="fr-FR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Conception</a:t>
            </a:r>
            <a:endParaRPr lang="fr-FR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2195736" y="4007470"/>
            <a:ext cx="501650" cy="501650"/>
            <a:chOff x="1583" y="1494"/>
            <a:chExt cx="526" cy="526"/>
          </a:xfrm>
        </p:grpSpPr>
        <p:sp>
          <p:nvSpPr>
            <p:cNvPr id="26" name="Oval 20"/>
            <p:cNvSpPr>
              <a:spLocks noChangeArrowheads="1"/>
            </p:cNvSpPr>
            <p:nvPr/>
          </p:nvSpPr>
          <p:spPr bwMode="gray">
            <a:xfrm>
              <a:off x="1583" y="1494"/>
              <a:ext cx="526" cy="52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7" name="Oval 21"/>
            <p:cNvSpPr>
              <a:spLocks noChangeArrowheads="1"/>
            </p:cNvSpPr>
            <p:nvPr/>
          </p:nvSpPr>
          <p:spPr bwMode="gray">
            <a:xfrm>
              <a:off x="1635" y="1547"/>
              <a:ext cx="424" cy="42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577592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8" name="Oval 22"/>
            <p:cNvSpPr>
              <a:spLocks noChangeArrowheads="1"/>
            </p:cNvSpPr>
            <p:nvPr/>
          </p:nvSpPr>
          <p:spPr bwMode="gray">
            <a:xfrm>
              <a:off x="1641" y="1557"/>
              <a:ext cx="406" cy="40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6182A2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9" name="Oval 23"/>
            <p:cNvSpPr>
              <a:spLocks noChangeArrowheads="1"/>
            </p:cNvSpPr>
            <p:nvPr/>
          </p:nvSpPr>
          <p:spPr bwMode="gray">
            <a:xfrm>
              <a:off x="1651" y="1582"/>
              <a:ext cx="266" cy="26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Oval 24"/>
            <p:cNvSpPr>
              <a:spLocks noChangeArrowheads="1"/>
            </p:cNvSpPr>
            <p:nvPr/>
          </p:nvSpPr>
          <p:spPr bwMode="gray">
            <a:xfrm>
              <a:off x="1660" y="1571"/>
              <a:ext cx="366" cy="36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1" name="Text Box 32"/>
          <p:cNvSpPr txBox="1">
            <a:spLocks noChangeArrowheads="1"/>
          </p:cNvSpPr>
          <p:nvPr/>
        </p:nvSpPr>
        <p:spPr bwMode="auto">
          <a:xfrm>
            <a:off x="1442934" y="1039297"/>
            <a:ext cx="311150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800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33" name="Text Box 34"/>
          <p:cNvSpPr txBox="1">
            <a:spLocks noChangeArrowheads="1"/>
          </p:cNvSpPr>
          <p:nvPr/>
        </p:nvSpPr>
        <p:spPr bwMode="auto">
          <a:xfrm>
            <a:off x="2272406" y="4044040"/>
            <a:ext cx="31290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US" sz="1800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2428860" y="3212976"/>
            <a:ext cx="501650" cy="501650"/>
            <a:chOff x="1583" y="1494"/>
            <a:chExt cx="526" cy="526"/>
          </a:xfrm>
        </p:grpSpPr>
        <p:sp>
          <p:nvSpPr>
            <p:cNvPr id="44" name="Oval 46"/>
            <p:cNvSpPr>
              <a:spLocks noChangeArrowheads="1"/>
            </p:cNvSpPr>
            <p:nvPr/>
          </p:nvSpPr>
          <p:spPr bwMode="gray">
            <a:xfrm>
              <a:off x="1583" y="1494"/>
              <a:ext cx="526" cy="52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5" name="Oval 47"/>
            <p:cNvSpPr>
              <a:spLocks noChangeArrowheads="1"/>
            </p:cNvSpPr>
            <p:nvPr/>
          </p:nvSpPr>
          <p:spPr bwMode="gray">
            <a:xfrm>
              <a:off x="1635" y="1547"/>
              <a:ext cx="424" cy="42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577592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Oval 48"/>
            <p:cNvSpPr>
              <a:spLocks noChangeArrowheads="1"/>
            </p:cNvSpPr>
            <p:nvPr/>
          </p:nvSpPr>
          <p:spPr bwMode="gray">
            <a:xfrm>
              <a:off x="1641" y="1557"/>
              <a:ext cx="406" cy="40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6182A2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Oval 49"/>
            <p:cNvSpPr>
              <a:spLocks noChangeArrowheads="1"/>
            </p:cNvSpPr>
            <p:nvPr/>
          </p:nvSpPr>
          <p:spPr bwMode="gray">
            <a:xfrm>
              <a:off x="1651" y="1582"/>
              <a:ext cx="266" cy="26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Oval 50"/>
            <p:cNvSpPr>
              <a:spLocks noChangeArrowheads="1"/>
            </p:cNvSpPr>
            <p:nvPr/>
          </p:nvSpPr>
          <p:spPr bwMode="gray">
            <a:xfrm>
              <a:off x="1660" y="1571"/>
              <a:ext cx="366" cy="36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9" name="Text Box 51"/>
          <p:cNvSpPr txBox="1">
            <a:spLocks noChangeArrowheads="1"/>
          </p:cNvSpPr>
          <p:nvPr/>
        </p:nvSpPr>
        <p:spPr bwMode="auto">
          <a:xfrm>
            <a:off x="2514644" y="3269645"/>
            <a:ext cx="31290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US" sz="1800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0" name="Picture 52" descr="anim boul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00113" y="2852738"/>
            <a:ext cx="576262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Text Box 33"/>
          <p:cNvSpPr txBox="1">
            <a:spLocks noChangeArrowheads="1"/>
          </p:cNvSpPr>
          <p:nvPr/>
        </p:nvSpPr>
        <p:spPr bwMode="auto">
          <a:xfrm>
            <a:off x="2040968" y="1767093"/>
            <a:ext cx="376238" cy="3698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800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2</a:t>
            </a:r>
          </a:p>
        </p:txBody>
      </p:sp>
      <p:grpSp>
        <p:nvGrpSpPr>
          <p:cNvPr id="54" name="Group 5"/>
          <p:cNvGrpSpPr>
            <a:grpSpLocks/>
          </p:cNvGrpSpPr>
          <p:nvPr/>
        </p:nvGrpSpPr>
        <p:grpSpPr bwMode="auto">
          <a:xfrm>
            <a:off x="2285984" y="2428868"/>
            <a:ext cx="500063" cy="501650"/>
            <a:chOff x="1583" y="1494"/>
            <a:chExt cx="526" cy="526"/>
          </a:xfrm>
        </p:grpSpPr>
        <p:sp>
          <p:nvSpPr>
            <p:cNvPr id="55" name="Oval 6"/>
            <p:cNvSpPr>
              <a:spLocks noChangeArrowheads="1"/>
            </p:cNvSpPr>
            <p:nvPr/>
          </p:nvSpPr>
          <p:spPr bwMode="gray">
            <a:xfrm>
              <a:off x="1583" y="1494"/>
              <a:ext cx="526" cy="52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6" name="Oval 7"/>
            <p:cNvSpPr>
              <a:spLocks noChangeArrowheads="1"/>
            </p:cNvSpPr>
            <p:nvPr/>
          </p:nvSpPr>
          <p:spPr bwMode="gray">
            <a:xfrm>
              <a:off x="1635" y="1547"/>
              <a:ext cx="424" cy="42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577592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Oval 8"/>
            <p:cNvSpPr>
              <a:spLocks noChangeArrowheads="1"/>
            </p:cNvSpPr>
            <p:nvPr/>
          </p:nvSpPr>
          <p:spPr bwMode="gray">
            <a:xfrm>
              <a:off x="1641" y="1557"/>
              <a:ext cx="406" cy="40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6182A2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Oval 9"/>
            <p:cNvSpPr>
              <a:spLocks noChangeArrowheads="1"/>
            </p:cNvSpPr>
            <p:nvPr/>
          </p:nvSpPr>
          <p:spPr bwMode="gray">
            <a:xfrm>
              <a:off x="1651" y="1582"/>
              <a:ext cx="266" cy="26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" name="Oval 10"/>
            <p:cNvSpPr>
              <a:spLocks noChangeArrowheads="1"/>
            </p:cNvSpPr>
            <p:nvPr/>
          </p:nvSpPr>
          <p:spPr bwMode="gray">
            <a:xfrm>
              <a:off x="1660" y="1571"/>
              <a:ext cx="366" cy="36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0" name="AutoShape 4"/>
          <p:cNvSpPr>
            <a:spLocks noChangeArrowheads="1"/>
          </p:cNvSpPr>
          <p:nvPr/>
        </p:nvSpPr>
        <p:spPr bwMode="ltGray">
          <a:xfrm>
            <a:off x="2928927" y="1571612"/>
            <a:ext cx="4500593" cy="64293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699FF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>
            <a:softEdge rad="12700"/>
          </a:effectLst>
        </p:spPr>
        <p:txBody>
          <a:bodyPr wrap="none" anchor="ctr"/>
          <a:lstStyle/>
          <a:p>
            <a:pPr>
              <a:defRPr/>
            </a:pPr>
            <a:r>
              <a:rPr lang="fr-FR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Cadre générale</a:t>
            </a:r>
            <a:endParaRPr lang="fr-FR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" name="Text Box 51"/>
          <p:cNvSpPr txBox="1">
            <a:spLocks noChangeArrowheads="1"/>
          </p:cNvSpPr>
          <p:nvPr/>
        </p:nvSpPr>
        <p:spPr bwMode="auto">
          <a:xfrm>
            <a:off x="2379645" y="2484647"/>
            <a:ext cx="311150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en-US" sz="1800" i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grpSp>
        <p:nvGrpSpPr>
          <p:cNvPr id="51" name="Group 19"/>
          <p:cNvGrpSpPr>
            <a:grpSpLocks/>
          </p:cNvGrpSpPr>
          <p:nvPr/>
        </p:nvGrpSpPr>
        <p:grpSpPr bwMode="auto">
          <a:xfrm>
            <a:off x="1763688" y="4799558"/>
            <a:ext cx="501650" cy="501650"/>
            <a:chOff x="1583" y="1494"/>
            <a:chExt cx="526" cy="526"/>
          </a:xfrm>
        </p:grpSpPr>
        <p:sp>
          <p:nvSpPr>
            <p:cNvPr id="52" name="Oval 20"/>
            <p:cNvSpPr>
              <a:spLocks noChangeArrowheads="1"/>
            </p:cNvSpPr>
            <p:nvPr/>
          </p:nvSpPr>
          <p:spPr bwMode="gray">
            <a:xfrm>
              <a:off x="1583" y="1494"/>
              <a:ext cx="526" cy="52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2" name="Oval 21"/>
            <p:cNvSpPr>
              <a:spLocks noChangeArrowheads="1"/>
            </p:cNvSpPr>
            <p:nvPr/>
          </p:nvSpPr>
          <p:spPr bwMode="gray">
            <a:xfrm>
              <a:off x="1635" y="1547"/>
              <a:ext cx="424" cy="424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577592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3" name="Oval 22"/>
            <p:cNvSpPr>
              <a:spLocks noChangeArrowheads="1"/>
            </p:cNvSpPr>
            <p:nvPr/>
          </p:nvSpPr>
          <p:spPr bwMode="gray">
            <a:xfrm>
              <a:off x="1641" y="1557"/>
              <a:ext cx="406" cy="40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6182A2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4" name="Oval 23"/>
            <p:cNvSpPr>
              <a:spLocks noChangeArrowheads="1"/>
            </p:cNvSpPr>
            <p:nvPr/>
          </p:nvSpPr>
          <p:spPr bwMode="gray">
            <a:xfrm>
              <a:off x="1651" y="1582"/>
              <a:ext cx="266" cy="26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5" name="Oval 24"/>
            <p:cNvSpPr>
              <a:spLocks noChangeArrowheads="1"/>
            </p:cNvSpPr>
            <p:nvPr/>
          </p:nvSpPr>
          <p:spPr bwMode="gray">
            <a:xfrm>
              <a:off x="1660" y="1557"/>
              <a:ext cx="366" cy="366"/>
            </a:xfrm>
            <a:prstGeom prst="ellipse">
              <a:avLst/>
            </a:prstGeom>
            <a:gradFill rotWithShape="1">
              <a:gsLst>
                <a:gs pos="0">
                  <a:srgbClr val="99CCFF"/>
                </a:gs>
                <a:gs pos="100000">
                  <a:schemeClr val="bg1"/>
                </a:gs>
              </a:gsLst>
              <a:path path="rect">
                <a:fillToRect l="100000" t="100000"/>
              </a:path>
            </a:gradFill>
            <a:ln w="25400" algn="ctr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r" rtl="1">
                <a:defRPr/>
              </a:pPr>
              <a:endParaRPr lang="fr-FR" sz="1800" b="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66" name="AutoShape 18"/>
          <p:cNvSpPr>
            <a:spLocks noChangeArrowheads="1"/>
          </p:cNvSpPr>
          <p:nvPr/>
        </p:nvSpPr>
        <p:spPr bwMode="ltGray">
          <a:xfrm>
            <a:off x="3057865" y="4004276"/>
            <a:ext cx="5680752" cy="64293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699FF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>
            <a:softEdge rad="12700"/>
          </a:effectLst>
        </p:spPr>
        <p:txBody>
          <a:bodyPr wrap="none" anchor="ctr"/>
          <a:lstStyle/>
          <a:p>
            <a:pPr algn="just">
              <a:defRPr/>
            </a:pPr>
            <a:r>
              <a:rPr lang="fr-FR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Réalisation</a:t>
            </a:r>
            <a:endParaRPr lang="fr-FR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AutoShape 18"/>
          <p:cNvSpPr>
            <a:spLocks noChangeArrowheads="1"/>
          </p:cNvSpPr>
          <p:nvPr/>
        </p:nvSpPr>
        <p:spPr bwMode="ltGray">
          <a:xfrm>
            <a:off x="2586282" y="4795677"/>
            <a:ext cx="5500726" cy="64293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699FF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>
            <a:softEdge rad="12700"/>
          </a:effectLst>
        </p:spPr>
        <p:txBody>
          <a:bodyPr wrap="none" anchor="ctr"/>
          <a:lstStyle/>
          <a:p>
            <a:pPr algn="just">
              <a:defRPr/>
            </a:pPr>
            <a:r>
              <a:rPr lang="fr-FR" sz="2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</a:t>
            </a:r>
            <a:endParaRPr lang="fr-FR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" name="Text Box 34"/>
          <p:cNvSpPr txBox="1">
            <a:spLocks noChangeArrowheads="1"/>
          </p:cNvSpPr>
          <p:nvPr/>
        </p:nvSpPr>
        <p:spPr bwMode="auto">
          <a:xfrm>
            <a:off x="1873196" y="4821494"/>
            <a:ext cx="31290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US" sz="1800" i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104 -0.2456 C 0.05955 -0.2456 0.14983 -0.11181 0.14983 0.05347 C 0.14983 0.21829 0.05955 0.35324 -0.05104 0.35324 C -0.1618 0.35324 -0.25191 0.21829 -0.25191 0.05347 C -0.25191 -0.11181 -0.1618 -0.2456 -0.05104 -0.2456 Z " pathEditMode="relative" rAng="0" ptsTypes="AAAAA">
                                      <p:cBhvr>
                                        <p:cTn id="6" dur="318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99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nodeType="with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9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9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12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xit" presetSubtype="0" fill="hold" nodeType="withEffect">
                                  <p:stCondLst>
                                    <p:cond delay="19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6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139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nodeType="withEffect">
                                  <p:stCondLst>
                                    <p:cond delay="139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nodeType="withEffect">
                                  <p:stCondLst>
                                    <p:cond delay="15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140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</a:t>
            </a:fld>
            <a:endParaRPr lang="fr-BE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285720" y="1301130"/>
            <a:ext cx="3214710" cy="428628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Introduction générale</a:t>
            </a:r>
            <a:endParaRPr lang="fr-F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1349245" y="1952889"/>
            <a:ext cx="7213456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La </a:t>
            </a:r>
            <a:r>
              <a:rPr lang="fr-FR" sz="2000" dirty="0">
                <a:latin typeface="Arial" pitchFamily="34" charset="0"/>
                <a:cs typeface="Arial" pitchFamily="34" charset="0"/>
              </a:rPr>
              <a:t>gestion manuelle des tâches d’un système donné,  rencontre souvent des difficultés due à la diversité et la masse  d’information manipulée.</a:t>
            </a:r>
            <a:endParaRPr lang="fr-FR" sz="24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Line 5"/>
          <p:cNvSpPr>
            <a:spLocks noChangeShapeType="1"/>
          </p:cNvSpPr>
          <p:nvPr/>
        </p:nvSpPr>
        <p:spPr bwMode="auto">
          <a:xfrm flipV="1">
            <a:off x="142844" y="319744"/>
            <a:ext cx="8595772" cy="37422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0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068956" y="106045"/>
            <a:ext cx="457200" cy="457200"/>
          </a:xfrm>
          <a:prstGeom prst="flowChartConnector">
            <a:avLst/>
          </a:prstGeom>
          <a:solidFill>
            <a:srgbClr val="70AEC3"/>
          </a:solidFill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1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394975" y="114955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2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669448" y="106045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3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4955332" y="109855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1574371" y="630724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accent1"/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3220010" y="602693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7" name="Text Box 12"/>
          <p:cNvSpPr txBox="1">
            <a:spLocks noChangeArrowheads="1"/>
          </p:cNvSpPr>
          <p:nvPr/>
        </p:nvSpPr>
        <p:spPr bwMode="auto">
          <a:xfrm>
            <a:off x="7143768" y="603986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5962976" y="628922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614065" y="628921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269940" y="91144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1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504278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4451001" y="619630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D258BCDD-8135-496C-802D-ABD7C9B8E0C7}"/>
              </a:ext>
            </a:extLst>
          </p:cNvPr>
          <p:cNvSpPr/>
          <p:nvPr/>
        </p:nvSpPr>
        <p:spPr>
          <a:xfrm>
            <a:off x="349113" y="1968603"/>
            <a:ext cx="1000132" cy="949283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" name="ZoneTexte 3"/>
          <p:cNvSpPr txBox="1"/>
          <p:nvPr/>
        </p:nvSpPr>
        <p:spPr>
          <a:xfrm>
            <a:off x="593843" y="3661080"/>
            <a:ext cx="774035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smtClean="0">
                <a:latin typeface="Arial" pitchFamily="34" charset="0"/>
                <a:cs typeface="Arial" pitchFamily="34" charset="0"/>
              </a:rPr>
              <a:t>Pour </a:t>
            </a:r>
            <a:r>
              <a:rPr lang="fr-FR" sz="2000" dirty="0">
                <a:latin typeface="Arial" pitchFamily="34" charset="0"/>
                <a:cs typeface="Arial" pitchFamily="34" charset="0"/>
              </a:rPr>
              <a:t>bien gérer et organiser le processus de gestion au </a:t>
            </a:r>
            <a:r>
              <a:rPr lang="fr-FR" sz="2000" dirty="0" smtClean="0">
                <a:latin typeface="Arial" pitchFamily="34" charset="0"/>
                <a:cs typeface="Arial" pitchFamily="34" charset="0"/>
              </a:rPr>
              <a:t>sein d’un cabinet médical, </a:t>
            </a:r>
            <a:r>
              <a:rPr lang="fr-FR" sz="2000" dirty="0">
                <a:latin typeface="Arial" pitchFamily="34" charset="0"/>
                <a:cs typeface="Arial" pitchFamily="34" charset="0"/>
              </a:rPr>
              <a:t>l'outil informatique est devenu </a:t>
            </a:r>
            <a:r>
              <a:rPr lang="fr-FR" sz="2000" dirty="0" smtClean="0">
                <a:latin typeface="Arial" pitchFamily="34" charset="0"/>
                <a:cs typeface="Arial" pitchFamily="34" charset="0"/>
              </a:rPr>
              <a:t>indispensable</a:t>
            </a:r>
            <a:r>
              <a:rPr lang="fr-FR" sz="2000" dirty="0">
                <a:latin typeface="Arial" pitchFamily="34" charset="0"/>
                <a:cs typeface="Arial" pitchFamily="34" charset="0"/>
              </a:rPr>
              <a:t>.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endParaRPr lang="fr-FR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</a:t>
            </a:fld>
            <a:endParaRPr lang="fr-BE" dirty="0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001210" y="123769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6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684407" y="133234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532884" y="14285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687244" y="642918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rgbClr val="70AEC3"/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rgbClr val="70AEC3"/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3296925" y="616105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7316442" y="618753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6063005" y="618753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691282" y="656809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5025085" y="14285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5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280575" y="126580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4634245" y="618555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8" name="Rectangle à coins arrondis 17"/>
          <p:cNvSpPr/>
          <p:nvPr/>
        </p:nvSpPr>
        <p:spPr>
          <a:xfrm>
            <a:off x="142844" y="1212809"/>
            <a:ext cx="2571768" cy="428628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Problématique</a:t>
            </a:r>
            <a:endParaRPr lang="fr-FR" dirty="0"/>
          </a:p>
        </p:txBody>
      </p:sp>
      <p:pic>
        <p:nvPicPr>
          <p:cNvPr id="79" name="Image 78" descr="image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5720" y="4631642"/>
            <a:ext cx="1872208" cy="16236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1" name="Pensées 80"/>
          <p:cNvSpPr/>
          <p:nvPr/>
        </p:nvSpPr>
        <p:spPr>
          <a:xfrm>
            <a:off x="1960314" y="1289561"/>
            <a:ext cx="6776621" cy="3600400"/>
          </a:xfrm>
          <a:prstGeom prst="cloudCallout">
            <a:avLst>
              <a:gd name="adj1" fmla="val -49693"/>
              <a:gd name="adj2" fmla="val 6088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Font typeface="Wingdings" pitchFamily="2" charset="2"/>
              <a:buChar char="ü"/>
            </a:pPr>
            <a:r>
              <a:rPr lang="fr-FR" sz="2400" b="1" i="1" dirty="0">
                <a:latin typeface="+mj-lt"/>
                <a:ea typeface="Calibri" pitchFamily="34" charset="0"/>
                <a:cs typeface="Times New Roman" pitchFamily="18" charset="0"/>
              </a:rPr>
              <a:t>Au niveau de </a:t>
            </a:r>
            <a:r>
              <a:rPr lang="fr-FR" sz="2400" b="1" i="1" dirty="0" smtClean="0">
                <a:latin typeface="+mj-lt"/>
                <a:ea typeface="Calibri" pitchFamily="34" charset="0"/>
                <a:cs typeface="Times New Roman" pitchFamily="18" charset="0"/>
              </a:rPr>
              <a:t>la disponibilité </a:t>
            </a:r>
            <a:r>
              <a:rPr lang="fr-FR" sz="2400" b="1" i="1" dirty="0">
                <a:latin typeface="+mj-lt"/>
                <a:ea typeface="Calibri" pitchFamily="34" charset="0"/>
                <a:cs typeface="Times New Roman" pitchFamily="18" charset="0"/>
              </a:rPr>
              <a:t>des données</a:t>
            </a:r>
          </a:p>
          <a:p>
            <a:pPr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Font typeface="Wingdings" pitchFamily="2" charset="2"/>
              <a:buChar char="ü"/>
            </a:pPr>
            <a:r>
              <a:rPr lang="fr-FR" sz="2400" b="1" i="1" dirty="0">
                <a:latin typeface="+mj-lt"/>
                <a:ea typeface="Calibri" pitchFamily="34" charset="0"/>
                <a:cs typeface="Times New Roman" pitchFamily="18" charset="0"/>
              </a:rPr>
              <a:t>Au niveau du traitement des </a:t>
            </a:r>
            <a:r>
              <a:rPr lang="fr-FR" sz="2400" b="1" i="1" dirty="0" smtClean="0">
                <a:latin typeface="+mj-lt"/>
                <a:ea typeface="Calibri" pitchFamily="34" charset="0"/>
                <a:cs typeface="Times New Roman" pitchFamily="18" charset="0"/>
              </a:rPr>
              <a:t>tâches (manuelle) </a:t>
            </a:r>
          </a:p>
          <a:p>
            <a:pPr lvl="0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Font typeface="Wingdings" pitchFamily="2" charset="2"/>
              <a:buChar char="ü"/>
            </a:pPr>
            <a:r>
              <a:rPr lang="fr-FR" sz="2800" i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fr-FR" sz="2400" b="1" i="1" dirty="0" smtClean="0">
                <a:latin typeface="+mj-lt"/>
                <a:ea typeface="Calibri" pitchFamily="34" charset="0"/>
                <a:cs typeface="Times New Roman" pitchFamily="18" charset="0"/>
              </a:rPr>
              <a:t>Au niveau de difficulté de stockage. </a:t>
            </a:r>
            <a:endParaRPr lang="fr-FR" sz="2400" b="1" i="1" dirty="0">
              <a:latin typeface="+mj-lt"/>
              <a:ea typeface="Calibri" pitchFamily="34" charset="0"/>
              <a:cs typeface="Times New Roman" pitchFamily="18" charset="0"/>
            </a:endParaRPr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921" y="5125974"/>
            <a:ext cx="1706688" cy="1216152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20" y="1992080"/>
            <a:ext cx="1551857" cy="1705337"/>
          </a:xfrm>
          <a:prstGeom prst="rect">
            <a:avLst/>
          </a:prstGeom>
        </p:spPr>
      </p:pic>
      <p:sp>
        <p:nvSpPr>
          <p:cNvPr id="24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343729" y="123769"/>
            <a:ext cx="457200" cy="457200"/>
          </a:xfrm>
          <a:prstGeom prst="flowChartConnector">
            <a:avLst/>
          </a:prstGeom>
          <a:solidFill>
            <a:srgbClr val="70AEC3"/>
          </a:solidFill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1" name="Image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503" y="4880460"/>
            <a:ext cx="1552562" cy="15525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</a:t>
            </a:fld>
            <a:endParaRPr lang="fr-BE" dirty="0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066258" y="14285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5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623718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7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486672" y="15101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659215" y="608212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rgbClr val="70AEC3"/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rgbClr val="70AEC3"/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3137938" y="611050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7369991" y="682923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6156342" y="674763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12999" y="620433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4929212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4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234706" y="14285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4536281" y="642918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7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318224" y="128566"/>
            <a:ext cx="457200" cy="457200"/>
          </a:xfrm>
          <a:prstGeom prst="flowChartConnector">
            <a:avLst/>
          </a:prstGeom>
          <a:solidFill>
            <a:srgbClr val="70AEC3"/>
          </a:solidFill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1187624" y="2492896"/>
            <a:ext cx="6658460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Notre projet consiste à réaliser  une application </a:t>
            </a:r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bureautique 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permet </a:t>
            </a:r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aux médecins d'organiser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de faciliter  le processus de gestion des tâches administratives quotidiennes au sein </a:t>
            </a:r>
            <a:r>
              <a:rPr lang="fr-F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leurs cabinets.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0354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space réservé du numéro de diapositive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</a:t>
            </a:fld>
            <a:endParaRPr lang="fr-BE" dirty="0"/>
          </a:p>
        </p:txBody>
      </p:sp>
      <p:sp>
        <p:nvSpPr>
          <p:cNvPr id="64" name="Espace réservé du numéro de diapositive 32"/>
          <p:cNvSpPr txBox="1">
            <a:spLocks/>
          </p:cNvSpPr>
          <p:nvPr/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D20949-8861-48E2-B3FA-562EA13681CB}" type="slidenum">
              <a:rPr kumimoji="0" lang="fr-FR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Arc 3"/>
          <p:cNvSpPr>
            <a:spLocks/>
          </p:cNvSpPr>
          <p:nvPr/>
        </p:nvSpPr>
        <p:spPr bwMode="gray">
          <a:xfrm>
            <a:off x="0" y="4292600"/>
            <a:ext cx="2568575" cy="2565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" name="Arc 17"/>
          <p:cNvSpPr>
            <a:spLocks/>
          </p:cNvSpPr>
          <p:nvPr/>
        </p:nvSpPr>
        <p:spPr bwMode="gray">
          <a:xfrm>
            <a:off x="0" y="4422775"/>
            <a:ext cx="2438400" cy="24352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" name="Arc 15"/>
          <p:cNvSpPr>
            <a:spLocks/>
          </p:cNvSpPr>
          <p:nvPr/>
        </p:nvSpPr>
        <p:spPr bwMode="gray">
          <a:xfrm>
            <a:off x="0" y="4343400"/>
            <a:ext cx="2509838" cy="2514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0" name="Line 5"/>
          <p:cNvSpPr>
            <a:spLocks noChangeShapeType="1"/>
          </p:cNvSpPr>
          <p:nvPr/>
        </p:nvSpPr>
        <p:spPr bwMode="gray">
          <a:xfrm flipH="1">
            <a:off x="0" y="3962400"/>
            <a:ext cx="609600" cy="2667000"/>
          </a:xfrm>
          <a:prstGeom prst="line">
            <a:avLst/>
          </a:prstGeom>
          <a:noFill/>
          <a:ln w="9525">
            <a:solidFill>
              <a:schemeClr val="accent1">
                <a:alpha val="39999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1" name="AutoShape 38"/>
          <p:cNvSpPr>
            <a:spLocks noChangeArrowheads="1"/>
          </p:cNvSpPr>
          <p:nvPr/>
        </p:nvSpPr>
        <p:spPr bwMode="black">
          <a:xfrm>
            <a:off x="534988" y="3732213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FF">
              <a:alpha val="60001"/>
            </a:srgbClr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9" name="Line 11"/>
          <p:cNvSpPr>
            <a:spLocks noChangeShapeType="1"/>
          </p:cNvSpPr>
          <p:nvPr/>
        </p:nvSpPr>
        <p:spPr bwMode="black">
          <a:xfrm flipH="1">
            <a:off x="0" y="2428868"/>
            <a:ext cx="1928794" cy="4057656"/>
          </a:xfrm>
          <a:prstGeom prst="line">
            <a:avLst/>
          </a:prstGeom>
          <a:noFill/>
          <a:ln w="19050">
            <a:solidFill>
              <a:schemeClr val="accent1">
                <a:alpha val="60001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 dirty="0"/>
          </a:p>
        </p:txBody>
      </p:sp>
      <p:sp>
        <p:nvSpPr>
          <p:cNvPr id="63" name="Line 9"/>
          <p:cNvSpPr>
            <a:spLocks noChangeShapeType="1"/>
          </p:cNvSpPr>
          <p:nvPr/>
        </p:nvSpPr>
        <p:spPr bwMode="gray">
          <a:xfrm flipH="1">
            <a:off x="0" y="3751263"/>
            <a:ext cx="1665288" cy="2878137"/>
          </a:xfrm>
          <a:prstGeom prst="line">
            <a:avLst/>
          </a:prstGeom>
          <a:noFill/>
          <a:ln w="9525">
            <a:solidFill>
              <a:schemeClr val="accent1">
                <a:alpha val="39999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65" name="AutoShape 6"/>
          <p:cNvSpPr>
            <a:spLocks noChangeArrowheads="1"/>
          </p:cNvSpPr>
          <p:nvPr/>
        </p:nvSpPr>
        <p:spPr bwMode="black">
          <a:xfrm>
            <a:off x="1614488" y="3543300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FF">
              <a:alpha val="60001"/>
            </a:srgbClr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80" name="Line 16"/>
          <p:cNvSpPr>
            <a:spLocks noChangeShapeType="1"/>
          </p:cNvSpPr>
          <p:nvPr/>
        </p:nvSpPr>
        <p:spPr bwMode="gray">
          <a:xfrm flipH="1">
            <a:off x="0" y="4232275"/>
            <a:ext cx="2532063" cy="2625725"/>
          </a:xfrm>
          <a:prstGeom prst="line">
            <a:avLst/>
          </a:prstGeom>
          <a:noFill/>
          <a:ln w="9525">
            <a:solidFill>
              <a:schemeClr val="accent1">
                <a:alpha val="39999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81" name="AutoShape 7"/>
          <p:cNvSpPr>
            <a:spLocks noChangeArrowheads="1"/>
          </p:cNvSpPr>
          <p:nvPr/>
        </p:nvSpPr>
        <p:spPr bwMode="black">
          <a:xfrm>
            <a:off x="2506663" y="4032250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FF">
              <a:alpha val="60001"/>
            </a:srgbClr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82" name="Line 13"/>
          <p:cNvSpPr>
            <a:spLocks noChangeShapeType="1"/>
          </p:cNvSpPr>
          <p:nvPr/>
        </p:nvSpPr>
        <p:spPr bwMode="black">
          <a:xfrm flipH="1">
            <a:off x="0" y="4837113"/>
            <a:ext cx="2846388" cy="1792287"/>
          </a:xfrm>
          <a:prstGeom prst="line">
            <a:avLst/>
          </a:prstGeom>
          <a:noFill/>
          <a:ln w="19050">
            <a:solidFill>
              <a:schemeClr val="accent1">
                <a:alpha val="60001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83" name="Line 10"/>
          <p:cNvSpPr>
            <a:spLocks noChangeShapeType="1"/>
          </p:cNvSpPr>
          <p:nvPr/>
        </p:nvSpPr>
        <p:spPr bwMode="gray">
          <a:xfrm flipH="1">
            <a:off x="0" y="5517232"/>
            <a:ext cx="2895600" cy="1147762"/>
          </a:xfrm>
          <a:prstGeom prst="line">
            <a:avLst/>
          </a:prstGeom>
          <a:noFill/>
          <a:ln w="9525">
            <a:solidFill>
              <a:schemeClr val="accent1">
                <a:alpha val="39999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84" name="AutoShape 8"/>
          <p:cNvSpPr>
            <a:spLocks noChangeArrowheads="1"/>
          </p:cNvSpPr>
          <p:nvPr/>
        </p:nvSpPr>
        <p:spPr bwMode="black">
          <a:xfrm>
            <a:off x="2884488" y="5334000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FF">
              <a:alpha val="60001"/>
            </a:srgbClr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85" name="ZoneTexte 74"/>
          <p:cNvSpPr txBox="1"/>
          <p:nvPr/>
        </p:nvSpPr>
        <p:spPr>
          <a:xfrm>
            <a:off x="2571736" y="1928802"/>
            <a:ext cx="5017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Une application web permettant de gérer les consultations, les ordonnances et les certificats des patients. </a:t>
            </a: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ZoneTexte 76"/>
          <p:cNvSpPr txBox="1"/>
          <p:nvPr/>
        </p:nvSpPr>
        <p:spPr>
          <a:xfrm>
            <a:off x="3294096" y="4282410"/>
            <a:ext cx="4834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Une application web permet à l’utilisateur la prise des RDV et la gestion des patients.</a:t>
            </a:r>
            <a:endParaRPr lang="fr-FR" sz="2000" dirty="0"/>
          </a:p>
        </p:txBody>
      </p:sp>
      <p:sp>
        <p:nvSpPr>
          <p:cNvPr id="90" name="Oval 41"/>
          <p:cNvSpPr>
            <a:spLocks noChangeArrowheads="1"/>
          </p:cNvSpPr>
          <p:nvPr/>
        </p:nvSpPr>
        <p:spPr bwMode="gray">
          <a:xfrm>
            <a:off x="1785918" y="1928802"/>
            <a:ext cx="648072" cy="64807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FEFFFF"/>
            </a:solidFill>
            <a:round/>
            <a:headEnd/>
            <a:tailEnd/>
          </a:ln>
          <a:effectLst>
            <a:outerShdw dist="35921" dir="2700000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fr-F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1" name="Oval 43"/>
          <p:cNvSpPr>
            <a:spLocks noChangeArrowheads="1"/>
          </p:cNvSpPr>
          <p:nvPr/>
        </p:nvSpPr>
        <p:spPr bwMode="gray">
          <a:xfrm rot="3116201">
            <a:off x="2714625" y="4468813"/>
            <a:ext cx="504825" cy="5048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rgbClr val="FEFFFF"/>
            </a:solidFill>
            <a:round/>
            <a:headEnd/>
            <a:tailEnd/>
          </a:ln>
          <a:effectLst>
            <a:outerShdw dist="35921" dir="2700000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7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9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142283" y="14206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0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769493" y="146463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2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566656" y="159594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3" name="Text Box 9"/>
          <p:cNvSpPr txBox="1">
            <a:spLocks noChangeArrowheads="1"/>
          </p:cNvSpPr>
          <p:nvPr/>
        </p:nvSpPr>
        <p:spPr bwMode="auto">
          <a:xfrm>
            <a:off x="1713079" y="629513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4" name="Text Box 13"/>
          <p:cNvSpPr txBox="1">
            <a:spLocks noChangeArrowheads="1"/>
          </p:cNvSpPr>
          <p:nvPr/>
        </p:nvSpPr>
        <p:spPr bwMode="auto">
          <a:xfrm>
            <a:off x="3321390" y="637386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5" name="Text Box 12"/>
          <p:cNvSpPr txBox="1">
            <a:spLocks noChangeArrowheads="1"/>
          </p:cNvSpPr>
          <p:nvPr/>
        </p:nvSpPr>
        <p:spPr bwMode="auto">
          <a:xfrm>
            <a:off x="7351264" y="629513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6" name="Text Box 10"/>
          <p:cNvSpPr txBox="1">
            <a:spLocks noChangeArrowheads="1"/>
          </p:cNvSpPr>
          <p:nvPr/>
        </p:nvSpPr>
        <p:spPr bwMode="auto">
          <a:xfrm>
            <a:off x="6250092" y="642918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7" name="ZoneTexte 106"/>
          <p:cNvSpPr txBox="1"/>
          <p:nvPr/>
        </p:nvSpPr>
        <p:spPr>
          <a:xfrm>
            <a:off x="664765" y="628605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5049711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9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343664" y="14206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0" name="Text Box 13"/>
          <p:cNvSpPr txBox="1">
            <a:spLocks noChangeArrowheads="1"/>
          </p:cNvSpPr>
          <p:nvPr/>
        </p:nvSpPr>
        <p:spPr bwMode="auto">
          <a:xfrm>
            <a:off x="4701815" y="642818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2" name="ZoneTexte 75"/>
          <p:cNvSpPr txBox="1"/>
          <p:nvPr/>
        </p:nvSpPr>
        <p:spPr>
          <a:xfrm>
            <a:off x="484695" y="5546605"/>
            <a:ext cx="18497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Web</a:t>
            </a:r>
          </a:p>
        </p:txBody>
      </p:sp>
      <p:sp>
        <p:nvSpPr>
          <p:cNvPr id="43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422501" y="14206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4" name="Rectangle à coins arrondis 43"/>
          <p:cNvSpPr/>
          <p:nvPr/>
        </p:nvSpPr>
        <p:spPr>
          <a:xfrm>
            <a:off x="285720" y="1285860"/>
            <a:ext cx="2571768" cy="428628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Etude de l’existant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844" y="5211808"/>
            <a:ext cx="1142877" cy="91957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650" y="2944464"/>
            <a:ext cx="1178646" cy="883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82" grpId="0" animBg="1"/>
      <p:bldP spid="85" grpId="0"/>
      <p:bldP spid="87" grpId="0"/>
      <p:bldP spid="90" grpId="0" animBg="1"/>
      <p:bldP spid="9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space réservé du numéro de diapositive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</a:t>
            </a:fld>
            <a:endParaRPr lang="fr-BE" dirty="0"/>
          </a:p>
        </p:txBody>
      </p:sp>
      <p:sp>
        <p:nvSpPr>
          <p:cNvPr id="64" name="Espace réservé du numéro de diapositive 32"/>
          <p:cNvSpPr txBox="1">
            <a:spLocks/>
          </p:cNvSpPr>
          <p:nvPr/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D20949-8861-48E2-B3FA-562EA13681CB}" type="slidenum">
              <a:rPr kumimoji="0" lang="fr-FR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Arc 3"/>
          <p:cNvSpPr>
            <a:spLocks/>
          </p:cNvSpPr>
          <p:nvPr/>
        </p:nvSpPr>
        <p:spPr bwMode="gray">
          <a:xfrm>
            <a:off x="0" y="4292600"/>
            <a:ext cx="2568575" cy="2565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7" name="Arc 17"/>
          <p:cNvSpPr>
            <a:spLocks/>
          </p:cNvSpPr>
          <p:nvPr/>
        </p:nvSpPr>
        <p:spPr bwMode="gray">
          <a:xfrm>
            <a:off x="0" y="4422775"/>
            <a:ext cx="2438400" cy="24352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8" name="Arc 15"/>
          <p:cNvSpPr>
            <a:spLocks/>
          </p:cNvSpPr>
          <p:nvPr/>
        </p:nvSpPr>
        <p:spPr bwMode="gray">
          <a:xfrm>
            <a:off x="0" y="4343400"/>
            <a:ext cx="2509838" cy="2514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0" name="Line 5"/>
          <p:cNvSpPr>
            <a:spLocks noChangeShapeType="1"/>
          </p:cNvSpPr>
          <p:nvPr/>
        </p:nvSpPr>
        <p:spPr bwMode="gray">
          <a:xfrm flipH="1">
            <a:off x="0" y="3962400"/>
            <a:ext cx="609600" cy="2667000"/>
          </a:xfrm>
          <a:prstGeom prst="line">
            <a:avLst/>
          </a:prstGeom>
          <a:noFill/>
          <a:ln w="9525">
            <a:solidFill>
              <a:schemeClr val="accent1">
                <a:alpha val="39999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1" name="AutoShape 38"/>
          <p:cNvSpPr>
            <a:spLocks noChangeArrowheads="1"/>
          </p:cNvSpPr>
          <p:nvPr/>
        </p:nvSpPr>
        <p:spPr bwMode="black">
          <a:xfrm>
            <a:off x="534988" y="3732213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FF">
              <a:alpha val="60001"/>
            </a:srgbClr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59" name="Line 11"/>
          <p:cNvSpPr>
            <a:spLocks noChangeShapeType="1"/>
          </p:cNvSpPr>
          <p:nvPr/>
        </p:nvSpPr>
        <p:spPr bwMode="black">
          <a:xfrm flipH="1">
            <a:off x="0" y="2428868"/>
            <a:ext cx="1928794" cy="4057656"/>
          </a:xfrm>
          <a:prstGeom prst="line">
            <a:avLst/>
          </a:prstGeom>
          <a:noFill/>
          <a:ln w="19050">
            <a:solidFill>
              <a:schemeClr val="accent1">
                <a:alpha val="60001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 dirty="0"/>
          </a:p>
        </p:txBody>
      </p:sp>
      <p:sp>
        <p:nvSpPr>
          <p:cNvPr id="63" name="Line 9"/>
          <p:cNvSpPr>
            <a:spLocks noChangeShapeType="1"/>
          </p:cNvSpPr>
          <p:nvPr/>
        </p:nvSpPr>
        <p:spPr bwMode="gray">
          <a:xfrm flipH="1">
            <a:off x="0" y="3751263"/>
            <a:ext cx="1665288" cy="2878137"/>
          </a:xfrm>
          <a:prstGeom prst="line">
            <a:avLst/>
          </a:prstGeom>
          <a:noFill/>
          <a:ln w="9525">
            <a:solidFill>
              <a:schemeClr val="accent1">
                <a:alpha val="39999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65" name="AutoShape 6"/>
          <p:cNvSpPr>
            <a:spLocks noChangeArrowheads="1"/>
          </p:cNvSpPr>
          <p:nvPr/>
        </p:nvSpPr>
        <p:spPr bwMode="black">
          <a:xfrm>
            <a:off x="1614488" y="3543300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FF">
              <a:alpha val="60001"/>
            </a:srgbClr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80" name="Line 16"/>
          <p:cNvSpPr>
            <a:spLocks noChangeShapeType="1"/>
          </p:cNvSpPr>
          <p:nvPr/>
        </p:nvSpPr>
        <p:spPr bwMode="gray">
          <a:xfrm flipH="1">
            <a:off x="-62365" y="4060648"/>
            <a:ext cx="2532063" cy="2625725"/>
          </a:xfrm>
          <a:prstGeom prst="line">
            <a:avLst/>
          </a:prstGeom>
          <a:noFill/>
          <a:ln w="9525">
            <a:solidFill>
              <a:schemeClr val="accent1">
                <a:alpha val="39999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81" name="AutoShape 7"/>
          <p:cNvSpPr>
            <a:spLocks noChangeArrowheads="1"/>
          </p:cNvSpPr>
          <p:nvPr/>
        </p:nvSpPr>
        <p:spPr bwMode="black">
          <a:xfrm>
            <a:off x="2454275" y="3902774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FF">
              <a:alpha val="60001"/>
            </a:srgbClr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82" name="Line 13"/>
          <p:cNvSpPr>
            <a:spLocks noChangeShapeType="1"/>
          </p:cNvSpPr>
          <p:nvPr/>
        </p:nvSpPr>
        <p:spPr bwMode="black">
          <a:xfrm flipH="1">
            <a:off x="-2" y="4440759"/>
            <a:ext cx="2928927" cy="2188641"/>
          </a:xfrm>
          <a:prstGeom prst="line">
            <a:avLst/>
          </a:prstGeom>
          <a:noFill/>
          <a:ln w="19050">
            <a:solidFill>
              <a:schemeClr val="accent1">
                <a:alpha val="60001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83" name="Line 10"/>
          <p:cNvSpPr>
            <a:spLocks noChangeShapeType="1"/>
          </p:cNvSpPr>
          <p:nvPr/>
        </p:nvSpPr>
        <p:spPr bwMode="gray">
          <a:xfrm flipH="1">
            <a:off x="0" y="5517232"/>
            <a:ext cx="2895600" cy="1147762"/>
          </a:xfrm>
          <a:prstGeom prst="line">
            <a:avLst/>
          </a:prstGeom>
          <a:noFill/>
          <a:ln w="9525">
            <a:solidFill>
              <a:schemeClr val="accent1">
                <a:alpha val="39999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84" name="AutoShape 8"/>
          <p:cNvSpPr>
            <a:spLocks noChangeArrowheads="1"/>
          </p:cNvSpPr>
          <p:nvPr/>
        </p:nvSpPr>
        <p:spPr bwMode="black">
          <a:xfrm>
            <a:off x="2884488" y="5334000"/>
            <a:ext cx="228600" cy="228600"/>
          </a:xfrm>
          <a:custGeom>
            <a:avLst/>
            <a:gdLst>
              <a:gd name="G0" fmla="+- 5400 0 0"/>
              <a:gd name="G1" fmla="+- 21600 0 5400"/>
              <a:gd name="G2" fmla="+- 21600 0 5400"/>
              <a:gd name="G3" fmla="*/ G0 2929 10000"/>
              <a:gd name="G4" fmla="+- 21600 0 G3"/>
              <a:gd name="G5" fmla="+- 21600 0 G3"/>
              <a:gd name="T0" fmla="*/ 10800 w 21600"/>
              <a:gd name="T1" fmla="*/ 0 h 21600"/>
              <a:gd name="T2" fmla="*/ 3163 w 21600"/>
              <a:gd name="T3" fmla="*/ 3163 h 21600"/>
              <a:gd name="T4" fmla="*/ 0 w 21600"/>
              <a:gd name="T5" fmla="*/ 10800 h 21600"/>
              <a:gd name="T6" fmla="*/ 3163 w 21600"/>
              <a:gd name="T7" fmla="*/ 18437 h 21600"/>
              <a:gd name="T8" fmla="*/ 10800 w 21600"/>
              <a:gd name="T9" fmla="*/ 21600 h 21600"/>
              <a:gd name="T10" fmla="*/ 18437 w 21600"/>
              <a:gd name="T11" fmla="*/ 18437 h 21600"/>
              <a:gd name="T12" fmla="*/ 21600 w 21600"/>
              <a:gd name="T13" fmla="*/ 10800 h 21600"/>
              <a:gd name="T14" fmla="*/ 18437 w 21600"/>
              <a:gd name="T15" fmla="*/ 3163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FFFF">
              <a:alpha val="60001"/>
            </a:srgbClr>
          </a:solidFill>
          <a:ln w="952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85" name="ZoneTexte 74"/>
          <p:cNvSpPr txBox="1"/>
          <p:nvPr/>
        </p:nvSpPr>
        <p:spPr>
          <a:xfrm>
            <a:off x="2571736" y="1928802"/>
            <a:ext cx="5017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Une application mobile qui permet la prise des rendez-vous, l’appel des urgences en cas de secours. </a:t>
            </a: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7" name="ZoneTexte 76"/>
          <p:cNvSpPr txBox="1"/>
          <p:nvPr/>
        </p:nvSpPr>
        <p:spPr>
          <a:xfrm>
            <a:off x="3462071" y="3969484"/>
            <a:ext cx="48349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Un manuel hors ligne qui comporte presque tous les troubles médicaux et les maladies par définitions, symptômes, origines et qui donne des informations sur les traitements associés.</a:t>
            </a:r>
            <a:endParaRPr lang="fr-FR" sz="2000" dirty="0"/>
          </a:p>
        </p:txBody>
      </p:sp>
      <p:sp>
        <p:nvSpPr>
          <p:cNvPr id="90" name="Oval 41"/>
          <p:cNvSpPr>
            <a:spLocks noChangeArrowheads="1"/>
          </p:cNvSpPr>
          <p:nvPr/>
        </p:nvSpPr>
        <p:spPr bwMode="gray">
          <a:xfrm>
            <a:off x="1785918" y="1928802"/>
            <a:ext cx="648072" cy="64807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>
            <a:solidFill>
              <a:srgbClr val="FEFFFF"/>
            </a:solidFill>
            <a:round/>
            <a:headEnd/>
            <a:tailEnd/>
          </a:ln>
          <a:effectLst>
            <a:outerShdw dist="35921" dir="2700000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fr-F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1" name="Oval 43"/>
          <p:cNvSpPr>
            <a:spLocks noChangeArrowheads="1"/>
          </p:cNvSpPr>
          <p:nvPr/>
        </p:nvSpPr>
        <p:spPr bwMode="gray">
          <a:xfrm rot="3116201">
            <a:off x="2884862" y="4024314"/>
            <a:ext cx="504825" cy="504825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rgbClr val="FEFFFF"/>
            </a:solidFill>
            <a:round/>
            <a:headEnd/>
            <a:tailEnd/>
          </a:ln>
          <a:effectLst>
            <a:outerShdw dist="35921" dir="2700000" algn="ctr" rotWithShape="0">
              <a:srgbClr val="080808">
                <a:alpha val="50000"/>
              </a:srgbClr>
            </a:outerShdw>
          </a:effectLst>
        </p:spPr>
        <p:txBody>
          <a:bodyPr wrap="none" anchor="ctr"/>
          <a:lstStyle/>
          <a:p>
            <a:endParaRPr lang="fr-FR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7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9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235861" y="11540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0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702991" y="128566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2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481961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3" name="Text Box 9"/>
          <p:cNvSpPr txBox="1">
            <a:spLocks noChangeArrowheads="1"/>
          </p:cNvSpPr>
          <p:nvPr/>
        </p:nvSpPr>
        <p:spPr bwMode="auto">
          <a:xfrm>
            <a:off x="1751952" y="628426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4" name="Text Box 13"/>
          <p:cNvSpPr txBox="1">
            <a:spLocks noChangeArrowheads="1"/>
          </p:cNvSpPr>
          <p:nvPr/>
        </p:nvSpPr>
        <p:spPr bwMode="auto">
          <a:xfrm>
            <a:off x="3312465" y="642918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5" name="Text Box 12"/>
          <p:cNvSpPr txBox="1">
            <a:spLocks noChangeArrowheads="1"/>
          </p:cNvSpPr>
          <p:nvPr/>
        </p:nvSpPr>
        <p:spPr bwMode="auto">
          <a:xfrm>
            <a:off x="7267260" y="642918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6" name="Text Box 10"/>
          <p:cNvSpPr txBox="1">
            <a:spLocks noChangeArrowheads="1"/>
          </p:cNvSpPr>
          <p:nvPr/>
        </p:nvSpPr>
        <p:spPr bwMode="auto">
          <a:xfrm>
            <a:off x="6153026" y="642918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7" name="ZoneTexte 106"/>
          <p:cNvSpPr txBox="1"/>
          <p:nvPr/>
        </p:nvSpPr>
        <p:spPr>
          <a:xfrm>
            <a:off x="601823" y="614179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4967076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9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231390" y="14206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0" name="Text Box 13"/>
          <p:cNvSpPr txBox="1">
            <a:spLocks noChangeArrowheads="1"/>
          </p:cNvSpPr>
          <p:nvPr/>
        </p:nvSpPr>
        <p:spPr bwMode="auto">
          <a:xfrm>
            <a:off x="4583650" y="632876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2" name="ZoneTexte 75"/>
          <p:cNvSpPr txBox="1"/>
          <p:nvPr/>
        </p:nvSpPr>
        <p:spPr>
          <a:xfrm>
            <a:off x="187814" y="5448300"/>
            <a:ext cx="18497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3200" b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Mobiles</a:t>
            </a:r>
          </a:p>
        </p:txBody>
      </p:sp>
      <p:sp>
        <p:nvSpPr>
          <p:cNvPr id="43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464823" y="12090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4" name="Rectangle à coins arrondis 43"/>
          <p:cNvSpPr/>
          <p:nvPr/>
        </p:nvSpPr>
        <p:spPr>
          <a:xfrm>
            <a:off x="285720" y="1285860"/>
            <a:ext cx="2571768" cy="428628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Etude de l’existant</a:t>
            </a:r>
            <a:endParaRPr lang="fr-FR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076" y="5647810"/>
            <a:ext cx="919572" cy="91957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650" y="2944465"/>
            <a:ext cx="1178646" cy="76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7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82" grpId="0" animBg="1"/>
      <p:bldP spid="85" grpId="0"/>
      <p:bldP spid="87" grpId="0"/>
      <p:bldP spid="90" grpId="0" animBg="1"/>
      <p:bldP spid="9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</a:t>
            </a:fld>
            <a:endParaRPr lang="fr-BE" dirty="0"/>
          </a:p>
        </p:txBody>
      </p:sp>
      <p:sp>
        <p:nvSpPr>
          <p:cNvPr id="3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235861" y="11540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5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702991" y="128566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6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481961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1751952" y="628426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3312465" y="642918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7267260" y="642918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153026" y="642918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01823" y="614179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4967076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3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231390" y="14206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4583650" y="632876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5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464823" y="12090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2" name="Rectangle à coins arrondis 41"/>
          <p:cNvSpPr/>
          <p:nvPr/>
        </p:nvSpPr>
        <p:spPr>
          <a:xfrm>
            <a:off x="285720" y="1285860"/>
            <a:ext cx="2571768" cy="428628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Critique de l ’existant</a:t>
            </a:r>
            <a:endParaRPr lang="fr-FR" dirty="0"/>
          </a:p>
        </p:txBody>
      </p:sp>
      <p:sp>
        <p:nvSpPr>
          <p:cNvPr id="45" name="ZoneTexte 44"/>
          <p:cNvSpPr txBox="1"/>
          <p:nvPr/>
        </p:nvSpPr>
        <p:spPr>
          <a:xfrm>
            <a:off x="1390587" y="2187045"/>
            <a:ext cx="63199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Certaines applications ont des fonctionnalités limitées</a:t>
            </a:r>
          </a:p>
        </p:txBody>
      </p:sp>
      <p:sp>
        <p:nvSpPr>
          <p:cNvPr id="46" name="ZoneTexte 45"/>
          <p:cNvSpPr txBox="1"/>
          <p:nvPr/>
        </p:nvSpPr>
        <p:spPr>
          <a:xfrm>
            <a:off x="1405882" y="3039620"/>
            <a:ext cx="73902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Processus très long avec probabilité de perte de documentation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1405882" y="3876076"/>
            <a:ext cx="7502754" cy="1047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gestion des RDV, se fait d'une manière manuelle ce qui engendre un risque d'oubli ou chevauchement des RDV</a:t>
            </a:r>
          </a:p>
        </p:txBody>
      </p:sp>
      <p:sp>
        <p:nvSpPr>
          <p:cNvPr id="50" name="ZoneTexte 49"/>
          <p:cNvSpPr txBox="1"/>
          <p:nvPr/>
        </p:nvSpPr>
        <p:spPr>
          <a:xfrm>
            <a:off x="1405882" y="5297931"/>
            <a:ext cx="57889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d'un moyen de recherche rapide. </a:t>
            </a:r>
          </a:p>
        </p:txBody>
      </p:sp>
    </p:spTree>
    <p:extLst>
      <p:ext uri="{BB962C8B-B14F-4D97-AF65-F5344CB8AC3E}">
        <p14:creationId xmlns:p14="http://schemas.microsoft.com/office/powerpoint/2010/main" val="41655586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9" grpId="0"/>
      <p:bldP spid="5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/>
          <p:cNvSpPr/>
          <p:nvPr/>
        </p:nvSpPr>
        <p:spPr>
          <a:xfrm>
            <a:off x="2857488" y="3645024"/>
            <a:ext cx="2857520" cy="936104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à coins arrondis 14"/>
          <p:cNvSpPr/>
          <p:nvPr/>
        </p:nvSpPr>
        <p:spPr>
          <a:xfrm>
            <a:off x="285720" y="1285860"/>
            <a:ext cx="2571768" cy="428628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</a:t>
            </a:r>
            <a:endParaRPr lang="fr-FR" dirty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</a:t>
            </a:fld>
            <a:endParaRPr lang="fr-BE" dirty="0"/>
          </a:p>
        </p:txBody>
      </p:sp>
      <p:sp>
        <p:nvSpPr>
          <p:cNvPr id="38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9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018456" y="14285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0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400288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1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745571" y="142852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3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559460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4" name="Text Box 9"/>
          <p:cNvSpPr txBox="1">
            <a:spLocks noChangeArrowheads="1"/>
          </p:cNvSpPr>
          <p:nvPr/>
        </p:nvSpPr>
        <p:spPr bwMode="auto">
          <a:xfrm>
            <a:off x="1748553" y="656022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accent1"/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5" name="Text Box 13"/>
          <p:cNvSpPr txBox="1">
            <a:spLocks noChangeArrowheads="1"/>
          </p:cNvSpPr>
          <p:nvPr/>
        </p:nvSpPr>
        <p:spPr bwMode="auto">
          <a:xfrm>
            <a:off x="3279237" y="642918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6" name="Text Box 12"/>
          <p:cNvSpPr txBox="1">
            <a:spLocks noChangeArrowheads="1"/>
          </p:cNvSpPr>
          <p:nvPr/>
        </p:nvSpPr>
        <p:spPr bwMode="auto">
          <a:xfrm>
            <a:off x="7339667" y="642918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7" name="Text Box 10"/>
          <p:cNvSpPr txBox="1">
            <a:spLocks noChangeArrowheads="1"/>
          </p:cNvSpPr>
          <p:nvPr/>
        </p:nvSpPr>
        <p:spPr bwMode="auto">
          <a:xfrm>
            <a:off x="6146186" y="642918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735558" y="631316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9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5043303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50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283058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51" name="Text Box 13"/>
          <p:cNvSpPr txBox="1">
            <a:spLocks noChangeArrowheads="1"/>
          </p:cNvSpPr>
          <p:nvPr/>
        </p:nvSpPr>
        <p:spPr bwMode="auto">
          <a:xfrm>
            <a:off x="4595072" y="634236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79244" y="3789040"/>
            <a:ext cx="111601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28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GCM</a:t>
            </a:r>
            <a:endParaRPr lang="fr-FR" sz="2800" b="1" cap="none" spc="0" dirty="0">
              <a:ln w="0"/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5143504" y="2114683"/>
            <a:ext cx="3256890" cy="1099284"/>
          </a:xfrm>
          <a:prstGeom prst="wedgeRoundRectCallout">
            <a:avLst>
              <a:gd name="adj1" fmla="val -58197"/>
              <a:gd name="adj2" fmla="val 75067"/>
              <a:gd name="adj3" fmla="val 1666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de temps</a:t>
            </a:r>
          </a:p>
        </p:txBody>
      </p:sp>
      <p:sp>
        <p:nvSpPr>
          <p:cNvPr id="80" name="Rectangle à coins arrondis 79"/>
          <p:cNvSpPr/>
          <p:nvPr/>
        </p:nvSpPr>
        <p:spPr>
          <a:xfrm>
            <a:off x="306998" y="2114683"/>
            <a:ext cx="3256890" cy="1145861"/>
          </a:xfrm>
          <a:prstGeom prst="wedgeRoundRectCallout">
            <a:avLst>
              <a:gd name="adj1" fmla="val 57431"/>
              <a:gd name="adj2" fmla="val 74462"/>
              <a:gd name="adj3" fmla="val 1666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rapidité d'accès aux dossiers </a:t>
            </a:r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patients.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tangle à coins arrondis 80"/>
          <p:cNvSpPr/>
          <p:nvPr/>
        </p:nvSpPr>
        <p:spPr>
          <a:xfrm>
            <a:off x="400359" y="5064161"/>
            <a:ext cx="3256890" cy="1145861"/>
          </a:xfrm>
          <a:prstGeom prst="wedgeRoundRectCallout">
            <a:avLst>
              <a:gd name="adj1" fmla="val 48564"/>
              <a:gd name="adj2" fmla="val -78839"/>
              <a:gd name="adj3" fmla="val 1666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200" dirty="0"/>
          </a:p>
        </p:txBody>
      </p:sp>
      <p:sp>
        <p:nvSpPr>
          <p:cNvPr id="82" name="Rectangle à coins arrondis 81"/>
          <p:cNvSpPr/>
          <p:nvPr/>
        </p:nvSpPr>
        <p:spPr>
          <a:xfrm>
            <a:off x="4832104" y="5044816"/>
            <a:ext cx="3256890" cy="1145861"/>
          </a:xfrm>
          <a:prstGeom prst="wedgeRoundRectCallout">
            <a:avLst>
              <a:gd name="adj1" fmla="val -49332"/>
              <a:gd name="adj2" fmla="val -77789"/>
              <a:gd name="adj3" fmla="val 16667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Proposer une bonne sauvegarde 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514320" y="5064161"/>
            <a:ext cx="30857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Éviter les tâches pénibles et ennuyeuses qui se traitent manuellement.</a:t>
            </a:r>
          </a:p>
          <a:p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  <p:bldP spid="7" grpId="0" animBg="1"/>
      <p:bldP spid="80" grpId="0" animBg="1"/>
      <p:bldP spid="81" grpId="0" animBg="1"/>
      <p:bldP spid="82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>
          <a:xfrm>
            <a:off x="8042138" y="5716104"/>
            <a:ext cx="737592" cy="521208"/>
          </a:xfrm>
        </p:spPr>
        <p:txBody>
          <a:bodyPr/>
          <a:lstStyle/>
          <a:p>
            <a:r>
              <a:rPr lang="fr-BE" dirty="0" smtClean="0"/>
              <a:t> </a:t>
            </a:r>
            <a:fld id="{CF4668DC-857F-487D-BFFA-8C0CA5037977}" type="slidenum">
              <a:rPr lang="fr-BE" smtClean="0"/>
              <a:pPr/>
              <a:t>10</a:t>
            </a:fld>
            <a:endParaRPr lang="fr-BE" dirty="0"/>
          </a:p>
        </p:txBody>
      </p:sp>
      <p:sp>
        <p:nvSpPr>
          <p:cNvPr id="48" name="Ellipse 47"/>
          <p:cNvSpPr/>
          <p:nvPr/>
        </p:nvSpPr>
        <p:spPr>
          <a:xfrm>
            <a:off x="2000232" y="2907754"/>
            <a:ext cx="2428892" cy="51446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b="1" dirty="0" smtClean="0"/>
              <a:t>Gérer les patients </a:t>
            </a:r>
            <a:endParaRPr lang="fr-FR" sz="1400" b="1" dirty="0"/>
          </a:p>
        </p:txBody>
      </p:sp>
      <p:sp>
        <p:nvSpPr>
          <p:cNvPr id="50" name="Ellipse 49"/>
          <p:cNvSpPr/>
          <p:nvPr/>
        </p:nvSpPr>
        <p:spPr>
          <a:xfrm>
            <a:off x="6603362" y="3759587"/>
            <a:ext cx="2135253" cy="500066"/>
          </a:xfrm>
          <a:prstGeom prst="ellipse">
            <a:avLst/>
          </a:prstGeom>
          <a:gradFill flip="none" rotWithShape="1">
            <a:gsLst>
              <a:gs pos="0">
                <a:srgbClr val="70AEC3">
                  <a:tint val="66000"/>
                  <a:satMod val="160000"/>
                </a:srgbClr>
              </a:gs>
              <a:gs pos="50000">
                <a:srgbClr val="70AEC3">
                  <a:tint val="44500"/>
                  <a:satMod val="160000"/>
                </a:srgbClr>
              </a:gs>
              <a:gs pos="100000">
                <a:srgbClr val="70AEC3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solidFill>
              <a:srgbClr val="70AEC3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b="1" dirty="0" smtClean="0"/>
              <a:t>Authentification</a:t>
            </a:r>
            <a:endParaRPr lang="fr-FR" sz="1200" b="1" dirty="0"/>
          </a:p>
        </p:txBody>
      </p:sp>
      <p:sp>
        <p:nvSpPr>
          <p:cNvPr id="54" name="Rectangle à coins arrondis 53"/>
          <p:cNvSpPr/>
          <p:nvPr/>
        </p:nvSpPr>
        <p:spPr>
          <a:xfrm>
            <a:off x="115931" y="1585760"/>
            <a:ext cx="4500594" cy="428628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Cas d’utilisation générale</a:t>
            </a:r>
            <a:endParaRPr lang="fr-FR" dirty="0"/>
          </a:p>
        </p:txBody>
      </p:sp>
      <p:sp>
        <p:nvSpPr>
          <p:cNvPr id="113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4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228795" y="105687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5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476259" y="105687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6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829299" y="124423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584938" y="111810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9" name="Text Box 9"/>
          <p:cNvSpPr txBox="1">
            <a:spLocks noChangeArrowheads="1"/>
          </p:cNvSpPr>
          <p:nvPr/>
        </p:nvSpPr>
        <p:spPr bwMode="auto">
          <a:xfrm>
            <a:off x="1835921" y="616836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accent1"/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20" name="Text Box 13"/>
          <p:cNvSpPr txBox="1">
            <a:spLocks noChangeArrowheads="1"/>
          </p:cNvSpPr>
          <p:nvPr/>
        </p:nvSpPr>
        <p:spPr bwMode="auto">
          <a:xfrm>
            <a:off x="3425615" y="655322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21" name="Text Box 12"/>
          <p:cNvSpPr txBox="1">
            <a:spLocks noChangeArrowheads="1"/>
          </p:cNvSpPr>
          <p:nvPr/>
        </p:nvSpPr>
        <p:spPr bwMode="auto">
          <a:xfrm>
            <a:off x="7439900" y="660477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22" name="Text Box 10"/>
          <p:cNvSpPr txBox="1">
            <a:spLocks noChangeArrowheads="1"/>
          </p:cNvSpPr>
          <p:nvPr/>
        </p:nvSpPr>
        <p:spPr bwMode="auto">
          <a:xfrm>
            <a:off x="6256194" y="642918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23" name="ZoneTexte 122"/>
          <p:cNvSpPr txBox="1"/>
          <p:nvPr/>
        </p:nvSpPr>
        <p:spPr>
          <a:xfrm>
            <a:off x="860680" y="602523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27" name="Connecteur droit 126"/>
          <p:cNvCxnSpPr/>
          <p:nvPr/>
        </p:nvCxnSpPr>
        <p:spPr>
          <a:xfrm flipV="1">
            <a:off x="860680" y="3164986"/>
            <a:ext cx="1139552" cy="15073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0" name="Picture 2" descr="C:\Users\Stargazer\Desktop\Nouha\admi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931" y="4119625"/>
            <a:ext cx="864096" cy="782216"/>
          </a:xfrm>
          <a:prstGeom prst="rect">
            <a:avLst/>
          </a:prstGeom>
          <a:noFill/>
        </p:spPr>
      </p:pic>
      <p:sp>
        <p:nvSpPr>
          <p:cNvPr id="131" name="ZoneTexte 130"/>
          <p:cNvSpPr txBox="1"/>
          <p:nvPr/>
        </p:nvSpPr>
        <p:spPr>
          <a:xfrm>
            <a:off x="65526" y="4986364"/>
            <a:ext cx="1234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/>
              <a:t>Médecin</a:t>
            </a:r>
            <a:endParaRPr lang="fr-FR" sz="1600" b="1" dirty="0"/>
          </a:p>
        </p:txBody>
      </p:sp>
      <p:sp>
        <p:nvSpPr>
          <p:cNvPr id="143" name="ZoneTexte 142"/>
          <p:cNvSpPr txBox="1"/>
          <p:nvPr/>
        </p:nvSpPr>
        <p:spPr>
          <a:xfrm>
            <a:off x="4943127" y="3131220"/>
            <a:ext cx="85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« </a:t>
            </a:r>
            <a:r>
              <a:rPr lang="fr-FR" sz="1000" dirty="0" err="1" smtClean="0"/>
              <a:t>include</a:t>
            </a:r>
            <a:r>
              <a:rPr lang="fr-FR" sz="1000" dirty="0" smtClean="0"/>
              <a:t>» </a:t>
            </a:r>
            <a:endParaRPr lang="fr-FR" sz="1000" dirty="0"/>
          </a:p>
        </p:txBody>
      </p:sp>
      <p:sp>
        <p:nvSpPr>
          <p:cNvPr id="43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5076763" y="123652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4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439235" y="111810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9" name="Text Box 13"/>
          <p:cNvSpPr txBox="1">
            <a:spLocks noChangeArrowheads="1"/>
          </p:cNvSpPr>
          <p:nvPr/>
        </p:nvSpPr>
        <p:spPr bwMode="auto">
          <a:xfrm>
            <a:off x="4693441" y="654555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4" name="Ellipse 33"/>
          <p:cNvSpPr/>
          <p:nvPr/>
        </p:nvSpPr>
        <p:spPr>
          <a:xfrm>
            <a:off x="2051375" y="3600109"/>
            <a:ext cx="2428892" cy="51107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b="1" dirty="0" smtClean="0"/>
              <a:t>Gérer les rdv</a:t>
            </a:r>
            <a:endParaRPr lang="fr-FR" sz="1400" b="1" dirty="0"/>
          </a:p>
        </p:txBody>
      </p:sp>
      <p:sp>
        <p:nvSpPr>
          <p:cNvPr id="37" name="Ellipse 36"/>
          <p:cNvSpPr/>
          <p:nvPr/>
        </p:nvSpPr>
        <p:spPr>
          <a:xfrm>
            <a:off x="1996950" y="4380066"/>
            <a:ext cx="2646488" cy="50759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b="1" dirty="0" smtClean="0"/>
              <a:t>Gérer les factures</a:t>
            </a:r>
            <a:endParaRPr lang="fr-FR" sz="1400" b="1" dirty="0"/>
          </a:p>
        </p:txBody>
      </p:sp>
      <p:sp>
        <p:nvSpPr>
          <p:cNvPr id="38" name="Ellipse 37"/>
          <p:cNvSpPr/>
          <p:nvPr/>
        </p:nvSpPr>
        <p:spPr>
          <a:xfrm>
            <a:off x="1837061" y="5123522"/>
            <a:ext cx="2857520" cy="53772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b="1" dirty="0" smtClean="0"/>
              <a:t>Gérer les consultation</a:t>
            </a:r>
            <a:endParaRPr lang="fr-FR" sz="1400" b="1" dirty="0"/>
          </a:p>
        </p:txBody>
      </p:sp>
      <p:cxnSp>
        <p:nvCxnSpPr>
          <p:cNvPr id="47" name="Connecteur droit avec flèche 46"/>
          <p:cNvCxnSpPr>
            <a:stCxn id="38" idx="6"/>
          </p:cNvCxnSpPr>
          <p:nvPr/>
        </p:nvCxnSpPr>
        <p:spPr>
          <a:xfrm flipV="1">
            <a:off x="4694581" y="4128804"/>
            <a:ext cx="2022017" cy="126358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>
            <a:stCxn id="37" idx="6"/>
          </p:cNvCxnSpPr>
          <p:nvPr/>
        </p:nvCxnSpPr>
        <p:spPr>
          <a:xfrm flipV="1">
            <a:off x="4643438" y="4123682"/>
            <a:ext cx="1990970" cy="51018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/>
          <p:cNvCxnSpPr/>
          <p:nvPr/>
        </p:nvCxnSpPr>
        <p:spPr>
          <a:xfrm>
            <a:off x="4480267" y="3905910"/>
            <a:ext cx="2123095" cy="15397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/>
          <p:cNvCxnSpPr/>
          <p:nvPr/>
        </p:nvCxnSpPr>
        <p:spPr>
          <a:xfrm>
            <a:off x="4431859" y="3177078"/>
            <a:ext cx="2235976" cy="71884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ZoneTexte 56"/>
          <p:cNvSpPr txBox="1"/>
          <p:nvPr/>
        </p:nvSpPr>
        <p:spPr>
          <a:xfrm>
            <a:off x="4937385" y="4095942"/>
            <a:ext cx="85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« </a:t>
            </a:r>
            <a:r>
              <a:rPr lang="fr-FR" sz="1000" dirty="0" err="1" smtClean="0"/>
              <a:t>include</a:t>
            </a:r>
            <a:r>
              <a:rPr lang="fr-FR" sz="1000" dirty="0" smtClean="0"/>
              <a:t>» </a:t>
            </a:r>
            <a:endParaRPr lang="fr-FR" sz="1000" dirty="0"/>
          </a:p>
        </p:txBody>
      </p:sp>
      <p:sp>
        <p:nvSpPr>
          <p:cNvPr id="59" name="ZoneTexte 58"/>
          <p:cNvSpPr txBox="1"/>
          <p:nvPr/>
        </p:nvSpPr>
        <p:spPr>
          <a:xfrm>
            <a:off x="4937385" y="4588269"/>
            <a:ext cx="85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« </a:t>
            </a:r>
            <a:r>
              <a:rPr lang="fr-FR" sz="1000" dirty="0" err="1" smtClean="0"/>
              <a:t>include</a:t>
            </a:r>
            <a:r>
              <a:rPr lang="fr-FR" sz="1000" dirty="0" smtClean="0"/>
              <a:t>» </a:t>
            </a:r>
            <a:endParaRPr lang="fr-FR" sz="1000" dirty="0"/>
          </a:p>
        </p:txBody>
      </p:sp>
      <p:sp>
        <p:nvSpPr>
          <p:cNvPr id="60" name="ZoneTexte 59"/>
          <p:cNvSpPr txBox="1"/>
          <p:nvPr/>
        </p:nvSpPr>
        <p:spPr>
          <a:xfrm>
            <a:off x="4791715" y="3630479"/>
            <a:ext cx="85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« </a:t>
            </a:r>
            <a:r>
              <a:rPr lang="fr-FR" sz="1000" dirty="0" err="1" smtClean="0"/>
              <a:t>include</a:t>
            </a:r>
            <a:r>
              <a:rPr lang="fr-FR" sz="1000" dirty="0" smtClean="0"/>
              <a:t>» </a:t>
            </a:r>
            <a:endParaRPr lang="fr-FR" sz="1000" dirty="0"/>
          </a:p>
        </p:txBody>
      </p:sp>
      <p:cxnSp>
        <p:nvCxnSpPr>
          <p:cNvPr id="75" name="Connecteur droit 74"/>
          <p:cNvCxnSpPr>
            <a:stCxn id="38" idx="2"/>
          </p:cNvCxnSpPr>
          <p:nvPr/>
        </p:nvCxnSpPr>
        <p:spPr>
          <a:xfrm flipH="1" flipV="1">
            <a:off x="872427" y="4633865"/>
            <a:ext cx="964634" cy="758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/>
          <p:cNvCxnSpPr>
            <a:endCxn id="34" idx="2"/>
          </p:cNvCxnSpPr>
          <p:nvPr/>
        </p:nvCxnSpPr>
        <p:spPr>
          <a:xfrm flipV="1">
            <a:off x="863415" y="3855648"/>
            <a:ext cx="1187960" cy="790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/>
          <p:cNvCxnSpPr>
            <a:endCxn id="37" idx="2"/>
          </p:cNvCxnSpPr>
          <p:nvPr/>
        </p:nvCxnSpPr>
        <p:spPr>
          <a:xfrm flipV="1">
            <a:off x="860680" y="4633866"/>
            <a:ext cx="1136270" cy="124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0" grpId="0" animBg="1"/>
      <p:bldP spid="131" grpId="0"/>
      <p:bldP spid="143" grpId="0"/>
      <p:bldP spid="34" grpId="0" animBg="1"/>
      <p:bldP spid="37" grpId="0" animBg="1"/>
      <p:bldP spid="38" grpId="0" animBg="1"/>
      <p:bldP spid="57" grpId="0"/>
      <p:bldP spid="59" grpId="0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Espace réservé du numéro de diapositive 28"/>
          <p:cNvSpPr txBox="1">
            <a:spLocks/>
          </p:cNvSpPr>
          <p:nvPr/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D20949-8861-48E2-B3FA-562EA13681CB}" type="slidenum">
              <a:rPr kumimoji="0" lang="fr-FR" sz="14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0" name="Espace réservé du numéro de diapositive 16"/>
          <p:cNvSpPr>
            <a:spLocks noGrp="1"/>
          </p:cNvSpPr>
          <p:nvPr>
            <p:ph type="sldNum" sz="quarter" idx="12"/>
          </p:nvPr>
        </p:nvSpPr>
        <p:spPr>
          <a:xfrm>
            <a:off x="8072462" y="5734050"/>
            <a:ext cx="666154" cy="521208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11</a:t>
            </a:fld>
            <a:endParaRPr lang="fr-BE" dirty="0"/>
          </a:p>
        </p:txBody>
      </p:sp>
      <p:sp>
        <p:nvSpPr>
          <p:cNvPr id="54" name="Ellipse 53"/>
          <p:cNvSpPr/>
          <p:nvPr/>
        </p:nvSpPr>
        <p:spPr>
          <a:xfrm>
            <a:off x="2139891" y="2972773"/>
            <a:ext cx="2643206" cy="52754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 smtClean="0"/>
              <a:t>Gérer Patient</a:t>
            </a:r>
            <a:endParaRPr lang="fr-FR" sz="1600" b="1" dirty="0"/>
          </a:p>
        </p:txBody>
      </p:sp>
      <p:sp>
        <p:nvSpPr>
          <p:cNvPr id="128" name="Rectangle à coins arrondis 127"/>
          <p:cNvSpPr/>
          <p:nvPr/>
        </p:nvSpPr>
        <p:spPr>
          <a:xfrm>
            <a:off x="214282" y="1285860"/>
            <a:ext cx="4789766" cy="576922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Cas d’utilisation détaillée «Gérer les Patient »:</a:t>
            </a:r>
            <a:endParaRPr lang="fr-FR" dirty="0"/>
          </a:p>
        </p:txBody>
      </p:sp>
      <p:pic>
        <p:nvPicPr>
          <p:cNvPr id="40" name="Picture 2" descr="C:\Users\Stargazer\Desktop\Nouha\admi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816675"/>
            <a:ext cx="864096" cy="782216"/>
          </a:xfrm>
          <a:prstGeom prst="rect">
            <a:avLst/>
          </a:prstGeom>
          <a:noFill/>
        </p:spPr>
      </p:pic>
      <p:sp>
        <p:nvSpPr>
          <p:cNvPr id="41" name="ZoneTexte 40"/>
          <p:cNvSpPr txBox="1"/>
          <p:nvPr/>
        </p:nvSpPr>
        <p:spPr>
          <a:xfrm>
            <a:off x="176408" y="3750996"/>
            <a:ext cx="12144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/>
              <a:t>Médecin</a:t>
            </a:r>
            <a:endParaRPr lang="fr-FR" sz="1600" b="1" dirty="0"/>
          </a:p>
        </p:txBody>
      </p:sp>
      <p:cxnSp>
        <p:nvCxnSpPr>
          <p:cNvPr id="44" name="Connecteur droit 43"/>
          <p:cNvCxnSpPr>
            <a:stCxn id="40" idx="3"/>
            <a:endCxn id="54" idx="2"/>
          </p:cNvCxnSpPr>
          <p:nvPr/>
        </p:nvCxnSpPr>
        <p:spPr>
          <a:xfrm>
            <a:off x="1149816" y="3207783"/>
            <a:ext cx="990075" cy="28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97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956528" y="79153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9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110686" y="9155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0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304556" y="103142"/>
            <a:ext cx="484053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2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346615" y="130844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3" name="Text Box 9"/>
          <p:cNvSpPr txBox="1">
            <a:spLocks noChangeArrowheads="1"/>
          </p:cNvSpPr>
          <p:nvPr/>
        </p:nvSpPr>
        <p:spPr bwMode="auto">
          <a:xfrm>
            <a:off x="1398696" y="602912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accent1"/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4" name="Text Box 13"/>
          <p:cNvSpPr txBox="1">
            <a:spLocks noChangeArrowheads="1"/>
          </p:cNvSpPr>
          <p:nvPr/>
        </p:nvSpPr>
        <p:spPr bwMode="auto">
          <a:xfrm>
            <a:off x="2879701" y="604502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6" name="Text Box 12"/>
          <p:cNvSpPr txBox="1">
            <a:spLocks noChangeArrowheads="1"/>
          </p:cNvSpPr>
          <p:nvPr/>
        </p:nvSpPr>
        <p:spPr bwMode="auto">
          <a:xfrm>
            <a:off x="7096597" y="615010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7" name="Text Box 10"/>
          <p:cNvSpPr txBox="1">
            <a:spLocks noChangeArrowheads="1"/>
          </p:cNvSpPr>
          <p:nvPr/>
        </p:nvSpPr>
        <p:spPr bwMode="auto">
          <a:xfrm>
            <a:off x="5760297" y="642918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8" name="ZoneTexte 107"/>
          <p:cNvSpPr txBox="1"/>
          <p:nvPr/>
        </p:nvSpPr>
        <p:spPr>
          <a:xfrm>
            <a:off x="442956" y="578018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0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5908037" y="130844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1" name="Text Box 13"/>
          <p:cNvSpPr txBox="1">
            <a:spLocks noChangeArrowheads="1"/>
          </p:cNvSpPr>
          <p:nvPr/>
        </p:nvSpPr>
        <p:spPr bwMode="auto">
          <a:xfrm>
            <a:off x="4198951" y="615010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0" name="Ellipse 29"/>
          <p:cNvSpPr/>
          <p:nvPr/>
        </p:nvSpPr>
        <p:spPr>
          <a:xfrm>
            <a:off x="2149254" y="4353320"/>
            <a:ext cx="2643206" cy="544694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dk1"/>
                </a:solidFill>
              </a:rPr>
              <a:t>Consulter les </a:t>
            </a:r>
          </a:p>
          <a:p>
            <a:pPr algn="ctr"/>
            <a:r>
              <a:rPr lang="fr-FR" sz="1600" b="1" dirty="0" smtClean="0"/>
              <a:t>patient</a:t>
            </a:r>
            <a:endParaRPr lang="fr-FR" sz="1600" b="1" dirty="0">
              <a:solidFill>
                <a:schemeClr val="dk1"/>
              </a:solidFill>
            </a:endParaRPr>
          </a:p>
        </p:txBody>
      </p:sp>
      <p:sp>
        <p:nvSpPr>
          <p:cNvPr id="38" name="Ellipse 37"/>
          <p:cNvSpPr/>
          <p:nvPr/>
        </p:nvSpPr>
        <p:spPr>
          <a:xfrm>
            <a:off x="1338721" y="5751021"/>
            <a:ext cx="1580720" cy="55136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dk1"/>
                </a:solidFill>
              </a:rPr>
              <a:t>Modifier</a:t>
            </a:r>
          </a:p>
        </p:txBody>
      </p:sp>
      <p:sp>
        <p:nvSpPr>
          <p:cNvPr id="39" name="Ellipse 38"/>
          <p:cNvSpPr/>
          <p:nvPr/>
        </p:nvSpPr>
        <p:spPr>
          <a:xfrm>
            <a:off x="4012484" y="5724907"/>
            <a:ext cx="1895553" cy="57748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 smtClean="0">
                <a:solidFill>
                  <a:schemeClr val="dk1"/>
                </a:solidFill>
              </a:rPr>
              <a:t>Supprimer</a:t>
            </a:r>
            <a:endParaRPr lang="fr-FR" sz="1600" b="1" dirty="0">
              <a:solidFill>
                <a:schemeClr val="dk1"/>
              </a:solidFill>
            </a:endParaRPr>
          </a:p>
        </p:txBody>
      </p:sp>
      <p:cxnSp>
        <p:nvCxnSpPr>
          <p:cNvPr id="47" name="Connecteur droit avec flèche 46"/>
          <p:cNvCxnSpPr>
            <a:stCxn id="30" idx="0"/>
            <a:endCxn id="54" idx="4"/>
          </p:cNvCxnSpPr>
          <p:nvPr/>
        </p:nvCxnSpPr>
        <p:spPr>
          <a:xfrm flipH="1" flipV="1">
            <a:off x="3461494" y="3500313"/>
            <a:ext cx="9363" cy="85300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>
            <a:stCxn id="39" idx="0"/>
          </p:cNvCxnSpPr>
          <p:nvPr/>
        </p:nvCxnSpPr>
        <p:spPr>
          <a:xfrm flipH="1" flipV="1">
            <a:off x="3812623" y="4895263"/>
            <a:ext cx="1147638" cy="82964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/>
          <p:cNvCxnSpPr/>
          <p:nvPr/>
        </p:nvCxnSpPr>
        <p:spPr>
          <a:xfrm flipV="1">
            <a:off x="2016470" y="4844816"/>
            <a:ext cx="902971" cy="93194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Ellipse 112"/>
          <p:cNvSpPr/>
          <p:nvPr/>
        </p:nvSpPr>
        <p:spPr>
          <a:xfrm>
            <a:off x="4899468" y="2049313"/>
            <a:ext cx="2792786" cy="557848"/>
          </a:xfrm>
          <a:prstGeom prst="ellipse">
            <a:avLst/>
          </a:prstGeom>
          <a:gradFill flip="none" rotWithShape="1">
            <a:gsLst>
              <a:gs pos="0">
                <a:srgbClr val="70AEC3">
                  <a:tint val="66000"/>
                  <a:satMod val="160000"/>
                </a:srgbClr>
              </a:gs>
              <a:gs pos="50000">
                <a:srgbClr val="70AEC3">
                  <a:tint val="44500"/>
                  <a:satMod val="160000"/>
                </a:srgbClr>
              </a:gs>
              <a:gs pos="100000">
                <a:srgbClr val="70AEC3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rgbClr val="70AEC3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 smtClean="0"/>
              <a:t>S’authentifier</a:t>
            </a:r>
            <a:endParaRPr lang="fr-FR" sz="1600" b="1" dirty="0">
              <a:solidFill>
                <a:schemeClr val="dk1"/>
              </a:solidFill>
            </a:endParaRPr>
          </a:p>
        </p:txBody>
      </p:sp>
      <p:cxnSp>
        <p:nvCxnSpPr>
          <p:cNvPr id="114" name="Connecteur droit avec flèche 113"/>
          <p:cNvCxnSpPr>
            <a:stCxn id="54" idx="0"/>
            <a:endCxn id="113" idx="2"/>
          </p:cNvCxnSpPr>
          <p:nvPr/>
        </p:nvCxnSpPr>
        <p:spPr>
          <a:xfrm flipV="1">
            <a:off x="3461494" y="2328237"/>
            <a:ext cx="1437974" cy="64453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ZoneTexte 114"/>
          <p:cNvSpPr txBox="1"/>
          <p:nvPr/>
        </p:nvSpPr>
        <p:spPr>
          <a:xfrm>
            <a:off x="3606763" y="2301975"/>
            <a:ext cx="85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« </a:t>
            </a:r>
            <a:r>
              <a:rPr lang="fr-FR" sz="1000" dirty="0" err="1" smtClean="0"/>
              <a:t>include</a:t>
            </a:r>
            <a:r>
              <a:rPr lang="fr-FR" sz="1000" dirty="0" smtClean="0"/>
              <a:t>» </a:t>
            </a:r>
            <a:endParaRPr lang="fr-FR" sz="1000" dirty="0"/>
          </a:p>
        </p:txBody>
      </p:sp>
      <p:sp>
        <p:nvSpPr>
          <p:cNvPr id="133" name="ZoneTexte 132"/>
          <p:cNvSpPr txBox="1"/>
          <p:nvPr/>
        </p:nvSpPr>
        <p:spPr>
          <a:xfrm>
            <a:off x="2374215" y="5227274"/>
            <a:ext cx="85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« </a:t>
            </a:r>
            <a:r>
              <a:rPr lang="fr-FR" sz="1000" dirty="0" err="1" smtClean="0"/>
              <a:t>extend</a:t>
            </a:r>
            <a:r>
              <a:rPr lang="fr-FR" sz="1000" dirty="0" smtClean="0"/>
              <a:t>» </a:t>
            </a:r>
            <a:endParaRPr lang="fr-FR" sz="1000" dirty="0"/>
          </a:p>
        </p:txBody>
      </p:sp>
      <p:sp>
        <p:nvSpPr>
          <p:cNvPr id="134" name="ZoneTexte 133"/>
          <p:cNvSpPr txBox="1"/>
          <p:nvPr/>
        </p:nvSpPr>
        <p:spPr>
          <a:xfrm>
            <a:off x="4386442" y="5157529"/>
            <a:ext cx="85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« </a:t>
            </a:r>
            <a:r>
              <a:rPr lang="fr-FR" sz="1000" dirty="0" err="1" smtClean="0"/>
              <a:t>extend</a:t>
            </a:r>
            <a:r>
              <a:rPr lang="fr-FR" sz="1000" dirty="0" smtClean="0"/>
              <a:t>» </a:t>
            </a:r>
            <a:endParaRPr lang="fr-FR" sz="1000" dirty="0"/>
          </a:p>
        </p:txBody>
      </p:sp>
      <p:sp>
        <p:nvSpPr>
          <p:cNvPr id="57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4684731" y="95992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69" name="Ellipse 68"/>
          <p:cNvSpPr/>
          <p:nvPr/>
        </p:nvSpPr>
        <p:spPr>
          <a:xfrm>
            <a:off x="6337084" y="3781733"/>
            <a:ext cx="1472213" cy="45427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dk1"/>
                </a:solidFill>
              </a:rPr>
              <a:t>Ajouter</a:t>
            </a:r>
          </a:p>
        </p:txBody>
      </p:sp>
      <p:cxnSp>
        <p:nvCxnSpPr>
          <p:cNvPr id="71" name="Connecteur droit avec flèche 70"/>
          <p:cNvCxnSpPr>
            <a:stCxn id="69" idx="0"/>
            <a:endCxn id="54" idx="6"/>
          </p:cNvCxnSpPr>
          <p:nvPr/>
        </p:nvCxnSpPr>
        <p:spPr>
          <a:xfrm flipH="1" flipV="1">
            <a:off x="4783097" y="3236543"/>
            <a:ext cx="2290094" cy="54519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ZoneTexte 71"/>
          <p:cNvSpPr txBox="1"/>
          <p:nvPr/>
        </p:nvSpPr>
        <p:spPr>
          <a:xfrm>
            <a:off x="5344544" y="3153375"/>
            <a:ext cx="85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« </a:t>
            </a:r>
            <a:r>
              <a:rPr lang="fr-FR" sz="1000" dirty="0" err="1" smtClean="0"/>
              <a:t>extend</a:t>
            </a:r>
            <a:r>
              <a:rPr lang="fr-FR" sz="1000" dirty="0" smtClean="0"/>
              <a:t>» </a:t>
            </a:r>
            <a:endParaRPr lang="fr-FR" sz="1000" dirty="0"/>
          </a:p>
        </p:txBody>
      </p:sp>
      <p:sp>
        <p:nvSpPr>
          <p:cNvPr id="75" name="ZoneTexte 74"/>
          <p:cNvSpPr txBox="1"/>
          <p:nvPr/>
        </p:nvSpPr>
        <p:spPr>
          <a:xfrm>
            <a:off x="3446370" y="3833511"/>
            <a:ext cx="85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« </a:t>
            </a:r>
            <a:r>
              <a:rPr lang="fr-FR" sz="1000" dirty="0" err="1" smtClean="0"/>
              <a:t>extend</a:t>
            </a:r>
            <a:r>
              <a:rPr lang="fr-FR" sz="1000" dirty="0" smtClean="0"/>
              <a:t>» </a:t>
            </a:r>
            <a:endParaRPr lang="fr-FR" sz="10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41" grpId="0"/>
      <p:bldP spid="30" grpId="0" animBg="1"/>
      <p:bldP spid="38" grpId="0" animBg="1"/>
      <p:bldP spid="39" grpId="0" animBg="1"/>
      <p:bldP spid="113" grpId="0" animBg="1"/>
      <p:bldP spid="115" grpId="0"/>
      <p:bldP spid="133" grpId="0"/>
      <p:bldP spid="134" grpId="0"/>
      <p:bldP spid="69" grpId="0" animBg="1"/>
      <p:bldP spid="72" grpId="0"/>
      <p:bldP spid="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8129016" y="5786454"/>
            <a:ext cx="609600" cy="521208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12</a:t>
            </a:fld>
            <a:endParaRPr lang="fr-BE" dirty="0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7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044922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343998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9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659739" y="12856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465406" y="147321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1659295" y="622399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298862" y="642918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281264" y="660477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5978451" y="669044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700821" y="588447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209771" y="142852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9" name="Text Box 13"/>
          <p:cNvSpPr txBox="1">
            <a:spLocks noChangeArrowheads="1"/>
          </p:cNvSpPr>
          <p:nvPr/>
        </p:nvSpPr>
        <p:spPr bwMode="auto">
          <a:xfrm>
            <a:off x="4500119" y="668846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1" name="Rectangle à coins arrondis 20"/>
          <p:cNvSpPr/>
          <p:nvPr/>
        </p:nvSpPr>
        <p:spPr>
          <a:xfrm>
            <a:off x="148442" y="1103401"/>
            <a:ext cx="2714644" cy="428628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Diagramme de classe :</a:t>
            </a:r>
            <a:endParaRPr lang="fr-FR" dirty="0"/>
          </a:p>
        </p:txBody>
      </p:sp>
      <p:sp>
        <p:nvSpPr>
          <p:cNvPr id="22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4940404" y="128566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70" y="1642457"/>
            <a:ext cx="7428195" cy="4954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</a:t>
            </a:fld>
            <a:endParaRPr lang="fr-BE" dirty="0"/>
          </a:p>
        </p:txBody>
      </p:sp>
      <p:sp>
        <p:nvSpPr>
          <p:cNvPr id="3" name="Rectangle 2"/>
          <p:cNvSpPr/>
          <p:nvPr/>
        </p:nvSpPr>
        <p:spPr>
          <a:xfrm>
            <a:off x="973508" y="5202865"/>
            <a:ext cx="3344507" cy="14060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400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214282" y="1214422"/>
            <a:ext cx="2845550" cy="570758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Diagramme de séquence « Authentification »</a:t>
            </a:r>
            <a:endParaRPr lang="fr-FR" dirty="0"/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164075" y="104220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9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409832" y="130128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0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629267" y="117178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1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4929190" y="128566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2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493393" y="158389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1739124" y="589649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accent1"/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3196672" y="617034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7300988" y="683778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6" name="Text Box 10"/>
          <p:cNvSpPr txBox="1">
            <a:spLocks noChangeArrowheads="1"/>
          </p:cNvSpPr>
          <p:nvPr/>
        </p:nvSpPr>
        <p:spPr bwMode="auto">
          <a:xfrm>
            <a:off x="6089662" y="683779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803855" y="577074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215074" y="91956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4520703" y="683779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3" name="Picture 2" descr="C:\Users\Stargazer\Desktop\Nouha\admi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3816" y="1936300"/>
            <a:ext cx="549812" cy="497713"/>
          </a:xfrm>
          <a:prstGeom prst="rect">
            <a:avLst/>
          </a:prstGeom>
          <a:noFill/>
        </p:spPr>
      </p:pic>
      <p:sp>
        <p:nvSpPr>
          <p:cNvPr id="24" name="ZoneTexte 23"/>
          <p:cNvSpPr txBox="1"/>
          <p:nvPr/>
        </p:nvSpPr>
        <p:spPr>
          <a:xfrm>
            <a:off x="742920" y="2434013"/>
            <a:ext cx="1214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 smtClean="0"/>
              <a:t>Médecin</a:t>
            </a:r>
            <a:endParaRPr lang="fr-FR" sz="1200" b="1" dirty="0"/>
          </a:p>
        </p:txBody>
      </p:sp>
      <p:cxnSp>
        <p:nvCxnSpPr>
          <p:cNvPr id="25" name="Connecteur droit 24"/>
          <p:cNvCxnSpPr/>
          <p:nvPr/>
        </p:nvCxnSpPr>
        <p:spPr>
          <a:xfrm>
            <a:off x="1198722" y="2711012"/>
            <a:ext cx="0" cy="403035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521863" y="2185156"/>
            <a:ext cx="1193013" cy="3873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 smtClean="0"/>
              <a:t>:Système</a:t>
            </a:r>
            <a:endParaRPr lang="fr-FR" sz="1600" b="1" dirty="0"/>
          </a:p>
        </p:txBody>
      </p:sp>
      <p:sp>
        <p:nvSpPr>
          <p:cNvPr id="27" name="Rectangle 26"/>
          <p:cNvSpPr/>
          <p:nvPr/>
        </p:nvSpPr>
        <p:spPr>
          <a:xfrm>
            <a:off x="6450378" y="2185156"/>
            <a:ext cx="1193013" cy="3873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600" b="1" dirty="0" smtClean="0"/>
              <a:t>:BD</a:t>
            </a:r>
            <a:endParaRPr lang="fr-FR" sz="1600" b="1" dirty="0"/>
          </a:p>
        </p:txBody>
      </p:sp>
      <p:cxnSp>
        <p:nvCxnSpPr>
          <p:cNvPr id="28" name="Connecteur droit 27"/>
          <p:cNvCxnSpPr/>
          <p:nvPr/>
        </p:nvCxnSpPr>
        <p:spPr>
          <a:xfrm>
            <a:off x="4118369" y="2572512"/>
            <a:ext cx="0" cy="416885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/>
          <p:cNvCxnSpPr/>
          <p:nvPr/>
        </p:nvCxnSpPr>
        <p:spPr>
          <a:xfrm>
            <a:off x="7073199" y="2572512"/>
            <a:ext cx="0" cy="416885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/>
          <p:cNvCxnSpPr/>
          <p:nvPr/>
        </p:nvCxnSpPr>
        <p:spPr>
          <a:xfrm>
            <a:off x="1198722" y="3356992"/>
            <a:ext cx="2919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1285884" y="3068960"/>
            <a:ext cx="300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1:lancer l’application()</a:t>
            </a:r>
            <a:endParaRPr lang="fr-FR" sz="1200" dirty="0"/>
          </a:p>
        </p:txBody>
      </p:sp>
      <p:cxnSp>
        <p:nvCxnSpPr>
          <p:cNvPr id="33" name="Connecteur droit avec flèche 32"/>
          <p:cNvCxnSpPr/>
          <p:nvPr/>
        </p:nvCxnSpPr>
        <p:spPr>
          <a:xfrm flipH="1">
            <a:off x="1216314" y="3639619"/>
            <a:ext cx="2902054" cy="540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1282890" y="3330054"/>
            <a:ext cx="2843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2:page authentification affiché()</a:t>
            </a:r>
            <a:endParaRPr lang="fr-FR" sz="1200" dirty="0"/>
          </a:p>
        </p:txBody>
      </p:sp>
      <p:cxnSp>
        <p:nvCxnSpPr>
          <p:cNvPr id="35" name="Connecteur droit avec flèche 34"/>
          <p:cNvCxnSpPr/>
          <p:nvPr/>
        </p:nvCxnSpPr>
        <p:spPr>
          <a:xfrm>
            <a:off x="1220305" y="3933056"/>
            <a:ext cx="29196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1403648" y="3656057"/>
            <a:ext cx="2832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3:saisie login et password()</a:t>
            </a:r>
            <a:endParaRPr lang="fr-FR" sz="1200" dirty="0"/>
          </a:p>
        </p:txBody>
      </p:sp>
      <p:sp>
        <p:nvSpPr>
          <p:cNvPr id="37" name="Rectangle 36"/>
          <p:cNvSpPr/>
          <p:nvPr/>
        </p:nvSpPr>
        <p:spPr>
          <a:xfrm>
            <a:off x="4035791" y="3993811"/>
            <a:ext cx="158152" cy="44330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/>
          <p:cNvSpPr/>
          <p:nvPr/>
        </p:nvSpPr>
        <p:spPr>
          <a:xfrm>
            <a:off x="4113078" y="4149080"/>
            <a:ext cx="148826" cy="22727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" name="Connecteur droit 38"/>
          <p:cNvCxnSpPr>
            <a:endCxn id="37" idx="0"/>
          </p:cNvCxnSpPr>
          <p:nvPr/>
        </p:nvCxnSpPr>
        <p:spPr>
          <a:xfrm flipH="1">
            <a:off x="4114867" y="3993811"/>
            <a:ext cx="3131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>
            <a:off x="4427984" y="3993811"/>
            <a:ext cx="0" cy="2162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/>
          <p:nvPr/>
        </p:nvCxnSpPr>
        <p:spPr>
          <a:xfrm flipH="1">
            <a:off x="4286248" y="4210055"/>
            <a:ext cx="141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/>
          <p:cNvSpPr txBox="1"/>
          <p:nvPr/>
        </p:nvSpPr>
        <p:spPr>
          <a:xfrm>
            <a:off x="7289309" y="4429464"/>
            <a:ext cx="1630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6:vérification  des données</a:t>
            </a:r>
            <a:endParaRPr lang="fr-FR" sz="1200" dirty="0"/>
          </a:p>
        </p:txBody>
      </p:sp>
      <p:sp>
        <p:nvSpPr>
          <p:cNvPr id="51" name="Rectangle 50"/>
          <p:cNvSpPr/>
          <p:nvPr/>
        </p:nvSpPr>
        <p:spPr>
          <a:xfrm>
            <a:off x="4045329" y="4856942"/>
            <a:ext cx="94623" cy="3117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2" name="Connecteur droit avec flèche 51"/>
          <p:cNvCxnSpPr/>
          <p:nvPr/>
        </p:nvCxnSpPr>
        <p:spPr>
          <a:xfrm>
            <a:off x="4126123" y="4437112"/>
            <a:ext cx="29601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ZoneTexte 52"/>
          <p:cNvSpPr txBox="1"/>
          <p:nvPr/>
        </p:nvSpPr>
        <p:spPr>
          <a:xfrm>
            <a:off x="4576533" y="4449192"/>
            <a:ext cx="300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5</a:t>
            </a:r>
            <a:r>
              <a:rPr lang="fr-FR" sz="1200" dirty="0" smtClean="0"/>
              <a:t>:envoie les données()</a:t>
            </a:r>
            <a:endParaRPr lang="fr-FR" sz="1200" dirty="0"/>
          </a:p>
        </p:txBody>
      </p:sp>
      <p:sp>
        <p:nvSpPr>
          <p:cNvPr id="54" name="Rectangle 53"/>
          <p:cNvSpPr/>
          <p:nvPr/>
        </p:nvSpPr>
        <p:spPr>
          <a:xfrm>
            <a:off x="7060154" y="4414455"/>
            <a:ext cx="113599" cy="47667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ZoneTexte 54"/>
          <p:cNvSpPr txBox="1"/>
          <p:nvPr/>
        </p:nvSpPr>
        <p:spPr>
          <a:xfrm>
            <a:off x="4249999" y="3952790"/>
            <a:ext cx="1630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4:récupération des données ()</a:t>
            </a:r>
            <a:endParaRPr lang="fr-FR" sz="1200" dirty="0"/>
          </a:p>
        </p:txBody>
      </p:sp>
      <p:cxnSp>
        <p:nvCxnSpPr>
          <p:cNvPr id="56" name="Connecteur droit 55"/>
          <p:cNvCxnSpPr/>
          <p:nvPr/>
        </p:nvCxnSpPr>
        <p:spPr>
          <a:xfrm flipH="1">
            <a:off x="7180275" y="4417654"/>
            <a:ext cx="3131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/>
          <p:cNvCxnSpPr/>
          <p:nvPr/>
        </p:nvCxnSpPr>
        <p:spPr>
          <a:xfrm flipH="1">
            <a:off x="7180275" y="4708572"/>
            <a:ext cx="313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7493393" y="4417654"/>
            <a:ext cx="1" cy="290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953131" y="5949280"/>
            <a:ext cx="3382809" cy="669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979229" y="5191832"/>
            <a:ext cx="426327" cy="2867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alt</a:t>
            </a:r>
            <a:endParaRPr lang="fr-FR" sz="1400" dirty="0"/>
          </a:p>
        </p:txBody>
      </p:sp>
      <p:cxnSp>
        <p:nvCxnSpPr>
          <p:cNvPr id="61" name="Connecteur droit avec flèche 60"/>
          <p:cNvCxnSpPr/>
          <p:nvPr/>
        </p:nvCxnSpPr>
        <p:spPr>
          <a:xfrm flipH="1">
            <a:off x="1189532" y="5727851"/>
            <a:ext cx="2902054" cy="540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/>
          <p:cNvCxnSpPr/>
          <p:nvPr/>
        </p:nvCxnSpPr>
        <p:spPr>
          <a:xfrm flipH="1">
            <a:off x="1189532" y="6375923"/>
            <a:ext cx="2902054" cy="540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/>
          <p:cNvSpPr txBox="1"/>
          <p:nvPr/>
        </p:nvSpPr>
        <p:spPr>
          <a:xfrm>
            <a:off x="1249810" y="6351797"/>
            <a:ext cx="23200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succès]</a:t>
            </a:r>
            <a:endParaRPr lang="fr-FR" sz="900" dirty="0"/>
          </a:p>
        </p:txBody>
      </p:sp>
      <p:sp>
        <p:nvSpPr>
          <p:cNvPr id="64" name="ZoneTexte 63"/>
          <p:cNvSpPr txBox="1"/>
          <p:nvPr/>
        </p:nvSpPr>
        <p:spPr>
          <a:xfrm>
            <a:off x="1192179" y="5489605"/>
            <a:ext cx="232004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 smtClean="0"/>
              <a:t>[champs invalides]</a:t>
            </a:r>
            <a:endParaRPr lang="fr-FR" sz="1050" dirty="0"/>
          </a:p>
        </p:txBody>
      </p:sp>
      <p:sp>
        <p:nvSpPr>
          <p:cNvPr id="65" name="ZoneTexte 64"/>
          <p:cNvSpPr txBox="1"/>
          <p:nvPr/>
        </p:nvSpPr>
        <p:spPr>
          <a:xfrm>
            <a:off x="1511075" y="6089070"/>
            <a:ext cx="2832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9:rediriger vers la page d’accueil()</a:t>
            </a:r>
            <a:endParaRPr lang="fr-FR" sz="1200" dirty="0"/>
          </a:p>
        </p:txBody>
      </p:sp>
      <p:sp>
        <p:nvSpPr>
          <p:cNvPr id="66" name="ZoneTexte 65"/>
          <p:cNvSpPr txBox="1"/>
          <p:nvPr/>
        </p:nvSpPr>
        <p:spPr>
          <a:xfrm>
            <a:off x="2475303" y="5454866"/>
            <a:ext cx="2832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8</a:t>
            </a:r>
            <a:r>
              <a:rPr lang="fr-FR" sz="1200" dirty="0" smtClean="0"/>
              <a:t>: Message d’erreur()</a:t>
            </a:r>
            <a:endParaRPr lang="fr-FR" sz="1200" dirty="0"/>
          </a:p>
        </p:txBody>
      </p:sp>
      <p:sp>
        <p:nvSpPr>
          <p:cNvPr id="67" name="Rectangle 66"/>
          <p:cNvSpPr/>
          <p:nvPr/>
        </p:nvSpPr>
        <p:spPr>
          <a:xfrm>
            <a:off x="7104466" y="4604101"/>
            <a:ext cx="112646" cy="24417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8" name="Connecteur droit avec flèche 67"/>
          <p:cNvCxnSpPr>
            <a:stCxn id="54" idx="2"/>
          </p:cNvCxnSpPr>
          <p:nvPr/>
        </p:nvCxnSpPr>
        <p:spPr>
          <a:xfrm flipH="1">
            <a:off x="4086467" y="4891129"/>
            <a:ext cx="3030487" cy="6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ZoneTexte 75"/>
          <p:cNvSpPr txBox="1"/>
          <p:nvPr/>
        </p:nvSpPr>
        <p:spPr>
          <a:xfrm>
            <a:off x="4583847" y="4902938"/>
            <a:ext cx="3000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7:résultat envoyée()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6410633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11"/>
          <p:cNvSpPr>
            <a:spLocks noGrp="1"/>
          </p:cNvSpPr>
          <p:nvPr>
            <p:ph type="sldNum" sz="quarter" idx="12"/>
          </p:nvPr>
        </p:nvSpPr>
        <p:spPr>
          <a:xfrm>
            <a:off x="8072462" y="5715016"/>
            <a:ext cx="714380" cy="571504"/>
          </a:xfrm>
        </p:spPr>
        <p:txBody>
          <a:bodyPr/>
          <a:lstStyle/>
          <a:p>
            <a:fld id="{CF4668DC-857F-487D-BFFA-8C0CA5037977}" type="slidenum">
              <a:rPr lang="fr-BE" smtClean="0">
                <a:solidFill>
                  <a:schemeClr val="bg1"/>
                </a:solidFill>
              </a:rPr>
              <a:pPr/>
              <a:t>14</a:t>
            </a:fld>
            <a:endParaRPr lang="fr-BE" dirty="0">
              <a:solidFill>
                <a:schemeClr val="bg1"/>
              </a:solidFill>
            </a:endParaRPr>
          </a:p>
        </p:txBody>
      </p:sp>
      <p:sp>
        <p:nvSpPr>
          <p:cNvPr id="18" name="Rectangle à coins arrondis 17"/>
          <p:cNvSpPr/>
          <p:nvPr/>
        </p:nvSpPr>
        <p:spPr>
          <a:xfrm>
            <a:off x="221753" y="1351259"/>
            <a:ext cx="3714776" cy="426228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Environnement de travail </a:t>
            </a:r>
            <a:endParaRPr lang="fr-FR" dirty="0"/>
          </a:p>
        </p:txBody>
      </p:sp>
      <p:sp>
        <p:nvSpPr>
          <p:cNvPr id="39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0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837132" y="108448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1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123016" y="116501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2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414706" y="120787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4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511231" y="116501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6" name="Text Box 9"/>
          <p:cNvSpPr txBox="1">
            <a:spLocks noChangeArrowheads="1"/>
          </p:cNvSpPr>
          <p:nvPr/>
        </p:nvSpPr>
        <p:spPr bwMode="auto">
          <a:xfrm>
            <a:off x="1399333" y="615712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7" name="Text Box 13"/>
          <p:cNvSpPr txBox="1">
            <a:spLocks noChangeArrowheads="1"/>
          </p:cNvSpPr>
          <p:nvPr/>
        </p:nvSpPr>
        <p:spPr bwMode="auto">
          <a:xfrm>
            <a:off x="2957313" y="603237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8" name="Text Box 12"/>
          <p:cNvSpPr txBox="1">
            <a:spLocks noChangeArrowheads="1"/>
          </p:cNvSpPr>
          <p:nvPr/>
        </p:nvSpPr>
        <p:spPr bwMode="auto">
          <a:xfrm>
            <a:off x="7289596" y="656191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9" name="Text Box 10"/>
          <p:cNvSpPr txBox="1">
            <a:spLocks noChangeArrowheads="1"/>
          </p:cNvSpPr>
          <p:nvPr/>
        </p:nvSpPr>
        <p:spPr bwMode="auto">
          <a:xfrm>
            <a:off x="5977119" y="615712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445035" y="604407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4722326" y="116501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65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189989" y="116501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68" name="Text Box 13"/>
          <p:cNvSpPr txBox="1">
            <a:spLocks noChangeArrowheads="1"/>
          </p:cNvSpPr>
          <p:nvPr/>
        </p:nvSpPr>
        <p:spPr bwMode="auto">
          <a:xfrm>
            <a:off x="4393184" y="629665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grpSp>
        <p:nvGrpSpPr>
          <p:cNvPr id="90" name="Groupe 89"/>
          <p:cNvGrpSpPr/>
          <p:nvPr/>
        </p:nvGrpSpPr>
        <p:grpSpPr>
          <a:xfrm rot="20687537">
            <a:off x="4127178" y="4041243"/>
            <a:ext cx="2451014" cy="2424347"/>
            <a:chOff x="3862054" y="3909154"/>
            <a:chExt cx="2931092" cy="2985878"/>
          </a:xfrm>
        </p:grpSpPr>
        <p:pic>
          <p:nvPicPr>
            <p:cNvPr id="91" name="Image 9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2054" y="3909154"/>
              <a:ext cx="2931092" cy="2985878"/>
            </a:xfrm>
            <a:prstGeom prst="rect">
              <a:avLst/>
            </a:prstGeom>
          </p:spPr>
        </p:pic>
        <p:pic>
          <p:nvPicPr>
            <p:cNvPr id="92" name="Image 91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987781">
              <a:off x="4422702" y="4594663"/>
              <a:ext cx="1422540" cy="1320295"/>
            </a:xfrm>
            <a:prstGeom prst="rect">
              <a:avLst/>
            </a:prstGeom>
          </p:spPr>
        </p:pic>
      </p:grpSp>
      <p:grpSp>
        <p:nvGrpSpPr>
          <p:cNvPr id="93" name="Groupe 92"/>
          <p:cNvGrpSpPr/>
          <p:nvPr/>
        </p:nvGrpSpPr>
        <p:grpSpPr>
          <a:xfrm rot="527694">
            <a:off x="1738982" y="4044462"/>
            <a:ext cx="2043148" cy="2079024"/>
            <a:chOff x="2649331" y="3846878"/>
            <a:chExt cx="2296326" cy="2516657"/>
          </a:xfrm>
        </p:grpSpPr>
        <p:pic>
          <p:nvPicPr>
            <p:cNvPr id="94" name="Image 93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981372">
              <a:off x="2649331" y="3846878"/>
              <a:ext cx="2296326" cy="2516657"/>
            </a:xfrm>
            <a:prstGeom prst="rect">
              <a:avLst/>
            </a:prstGeom>
          </p:spPr>
        </p:pic>
        <p:pic>
          <p:nvPicPr>
            <p:cNvPr id="95" name="Image 94"/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60840">
              <a:off x="3433169" y="4476177"/>
              <a:ext cx="978338" cy="1120966"/>
            </a:xfrm>
            <a:prstGeom prst="rect">
              <a:avLst/>
            </a:prstGeom>
          </p:spPr>
        </p:pic>
      </p:grpSp>
      <p:grpSp>
        <p:nvGrpSpPr>
          <p:cNvPr id="45" name="Groupe 44"/>
          <p:cNvGrpSpPr/>
          <p:nvPr/>
        </p:nvGrpSpPr>
        <p:grpSpPr>
          <a:xfrm rot="1652792">
            <a:off x="2670431" y="2077839"/>
            <a:ext cx="2186778" cy="2512878"/>
            <a:chOff x="5507569" y="3941923"/>
            <a:chExt cx="2700894" cy="2858212"/>
          </a:xfrm>
        </p:grpSpPr>
        <p:pic>
          <p:nvPicPr>
            <p:cNvPr id="51" name="Image 50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7569" y="3941923"/>
              <a:ext cx="2700894" cy="2858212"/>
            </a:xfrm>
            <a:prstGeom prst="rect">
              <a:avLst/>
            </a:prstGeom>
          </p:spPr>
        </p:pic>
        <p:pic>
          <p:nvPicPr>
            <p:cNvPr id="56" name="Image 55"/>
            <p:cNvPicPr/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98356">
              <a:off x="6071256" y="4816845"/>
              <a:ext cx="1367256" cy="951403"/>
            </a:xfrm>
            <a:prstGeom prst="rect">
              <a:avLst/>
            </a:prstGeom>
          </p:spPr>
        </p:pic>
      </p:grpSp>
      <p:grpSp>
        <p:nvGrpSpPr>
          <p:cNvPr id="26" name="Group 63"/>
          <p:cNvGrpSpPr/>
          <p:nvPr/>
        </p:nvGrpSpPr>
        <p:grpSpPr>
          <a:xfrm rot="230418">
            <a:off x="4994100" y="1746685"/>
            <a:ext cx="1966039" cy="2168662"/>
            <a:chOff x="2754449" y="2143116"/>
            <a:chExt cx="2268212" cy="2154581"/>
          </a:xfrm>
        </p:grpSpPr>
        <p:sp>
          <p:nvSpPr>
            <p:cNvPr id="27" name="Rectangle à coins arrondis 41"/>
            <p:cNvSpPr/>
            <p:nvPr/>
          </p:nvSpPr>
          <p:spPr>
            <a:xfrm rot="518441">
              <a:off x="2754449" y="2473567"/>
              <a:ext cx="2268212" cy="1824130"/>
            </a:xfrm>
            <a:prstGeom prst="roundRect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>
              <a:glow rad="63500">
                <a:srgbClr val="4F81BD">
                  <a:satMod val="175000"/>
                  <a:alpha val="40000"/>
                </a:srgbClr>
              </a:glow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8" name="Image 48" descr="tron3.png"/>
            <p:cNvPicPr>
              <a:picLocks noChangeAspect="1"/>
            </p:cNvPicPr>
            <p:nvPr/>
          </p:nvPicPr>
          <p:blipFill>
            <a:blip r:embed="rId9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flipH="1">
              <a:off x="2857488" y="2143116"/>
              <a:ext cx="447531" cy="827082"/>
            </a:xfrm>
            <a:prstGeom prst="rect">
              <a:avLst/>
            </a:prstGeom>
          </p:spPr>
        </p:pic>
        <p:pic>
          <p:nvPicPr>
            <p:cNvPr id="29" name="Picture 6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 rot="474345">
              <a:off x="3275822" y="2937428"/>
              <a:ext cx="1307140" cy="923004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8072462" y="5715016"/>
            <a:ext cx="714380" cy="571504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15</a:t>
            </a:fld>
            <a:endParaRPr lang="fr-BE" dirty="0"/>
          </a:p>
        </p:txBody>
      </p:sp>
      <p:sp>
        <p:nvSpPr>
          <p:cNvPr id="16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7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211128" y="42843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514588" y="68153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9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818048" y="75853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1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486672" y="99157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847108" y="551311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accent1"/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3398060" y="578493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7369991" y="694341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6151035" y="669600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793753" y="525353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5116570" y="96927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343664" y="87238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4716483" y="629933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108" y="1846333"/>
            <a:ext cx="4829849" cy="3896269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055" y="1832043"/>
            <a:ext cx="4848902" cy="392484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841" y="1540653"/>
            <a:ext cx="5958356" cy="4507627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841" y="1540653"/>
            <a:ext cx="6072738" cy="45677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8072462" y="5715016"/>
            <a:ext cx="714380" cy="571504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16</a:t>
            </a:fld>
            <a:endParaRPr lang="fr-BE" dirty="0"/>
          </a:p>
        </p:txBody>
      </p:sp>
      <p:sp>
        <p:nvSpPr>
          <p:cNvPr id="16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7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211128" y="42843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514588" y="68153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9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818048" y="75853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1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486672" y="99157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847108" y="551311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accent1"/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3398060" y="578493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7369991" y="694341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6151035" y="669600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793753" y="525353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5116570" y="96927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343664" y="87238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4716483" y="629933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341" y="1663259"/>
            <a:ext cx="6455931" cy="4856088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363059" y="1197820"/>
            <a:ext cx="343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 smtClean="0"/>
              <a:t>Recherche un patient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886457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8072462" y="5715016"/>
            <a:ext cx="714380" cy="571504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17</a:t>
            </a:fld>
            <a:endParaRPr lang="fr-BE" dirty="0"/>
          </a:p>
        </p:txBody>
      </p:sp>
      <p:sp>
        <p:nvSpPr>
          <p:cNvPr id="16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7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211128" y="42843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514588" y="68153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9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818048" y="75853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1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486672" y="99157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847108" y="551311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accent1"/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3398060" y="578493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7369991" y="694341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6151035" y="669600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793753" y="525353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5116570" y="96927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343664" y="87238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4716483" y="629933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63059" y="1197820"/>
            <a:ext cx="343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 smtClean="0"/>
              <a:t>Ajouter </a:t>
            </a:r>
            <a:r>
              <a:rPr lang="fr-FR" b="1" dirty="0"/>
              <a:t>u</a:t>
            </a:r>
            <a:r>
              <a:rPr lang="fr-FR" b="1" dirty="0" smtClean="0"/>
              <a:t>n consultation :</a:t>
            </a:r>
            <a:endParaRPr lang="fr-FR" b="1" dirty="0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906" y="1780662"/>
            <a:ext cx="6348226" cy="479451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760" y="1764687"/>
            <a:ext cx="6348226" cy="477882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939" y="1765676"/>
            <a:ext cx="6252160" cy="472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3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8072462" y="5715016"/>
            <a:ext cx="714380" cy="571504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18</a:t>
            </a:fld>
            <a:endParaRPr lang="fr-BE" dirty="0"/>
          </a:p>
        </p:txBody>
      </p:sp>
      <p:sp>
        <p:nvSpPr>
          <p:cNvPr id="27" name="Rectangle à coins arrondis 26"/>
          <p:cNvSpPr/>
          <p:nvPr/>
        </p:nvSpPr>
        <p:spPr>
          <a:xfrm>
            <a:off x="357158" y="1268760"/>
            <a:ext cx="2270626" cy="488096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Conclusion </a:t>
            </a:r>
            <a:endParaRPr lang="fr-FR" dirty="0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>
            <a:off x="142844" y="357166"/>
            <a:ext cx="8642350" cy="0"/>
          </a:xfrm>
          <a:prstGeom prst="line">
            <a:avLst/>
          </a:prstGeom>
          <a:noFill/>
          <a:ln w="25400">
            <a:solidFill>
              <a:srgbClr val="9999FF"/>
            </a:solidFill>
            <a:round/>
            <a:headEnd type="diamond" w="med" len="med"/>
            <a:tailEnd type="stealth" w="med" len="med"/>
          </a:ln>
        </p:spPr>
        <p:txBody>
          <a:bodyPr/>
          <a:lstStyle/>
          <a:p>
            <a:pPr>
              <a:defRPr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2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1035271" y="128528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5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2448098" y="96450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2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3782123" y="128528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0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7701825" y="100374"/>
            <a:ext cx="457200" cy="457200"/>
          </a:xfrm>
          <a:prstGeom prst="flowChartConnector">
            <a:avLst/>
          </a:prstGeom>
          <a:solidFill>
            <a:srgbClr val="70AEC3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1" name="Text Box 9"/>
          <p:cNvSpPr txBox="1">
            <a:spLocks noChangeArrowheads="1"/>
          </p:cNvSpPr>
          <p:nvPr/>
        </p:nvSpPr>
        <p:spPr bwMode="auto">
          <a:xfrm>
            <a:off x="1831084" y="630822"/>
            <a:ext cx="19510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it-IT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sx="99000" sy="99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Cadre generale</a:t>
            </a:r>
            <a:endParaRPr lang="fr-FR" sz="140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sx="99000" sy="99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2" name="Text Box 13"/>
          <p:cNvSpPr txBox="1">
            <a:spLocks noChangeArrowheads="1"/>
          </p:cNvSpPr>
          <p:nvPr/>
        </p:nvSpPr>
        <p:spPr bwMode="auto">
          <a:xfrm>
            <a:off x="3378676" y="642918"/>
            <a:ext cx="14287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Etude de l’existant</a:t>
            </a:r>
            <a:endParaRPr lang="fr-FR" sz="1400" i="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3" name="Text Box 12"/>
          <p:cNvSpPr txBox="1">
            <a:spLocks noChangeArrowheads="1"/>
          </p:cNvSpPr>
          <p:nvPr/>
        </p:nvSpPr>
        <p:spPr bwMode="auto">
          <a:xfrm>
            <a:off x="7458312" y="656454"/>
            <a:ext cx="11477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400" i="0" dirty="0" smtClean="0">
                <a:solidFill>
                  <a:srgbClr val="70AEC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Conclusion</a:t>
            </a:r>
            <a:endParaRPr lang="fr-FR" sz="1400" i="0" dirty="0">
              <a:solidFill>
                <a:srgbClr val="70AEC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4" name="Text Box 10"/>
          <p:cNvSpPr txBox="1">
            <a:spLocks noChangeArrowheads="1"/>
          </p:cNvSpPr>
          <p:nvPr/>
        </p:nvSpPr>
        <p:spPr bwMode="auto">
          <a:xfrm>
            <a:off x="6247020" y="642918"/>
            <a:ext cx="107112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it-IT" sz="1400" i="0" dirty="0" smtClean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Réalisation</a:t>
            </a:r>
            <a:endParaRPr lang="fr-FR" sz="1400" i="0" dirty="0">
              <a:solidFill>
                <a:schemeClr val="tx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731411" y="617883"/>
            <a:ext cx="1285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  <a:endParaRPr lang="fr-FR" sz="1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5143504" y="96450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/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8" name="AutoShape 9">
            <a:hlinkHover r:id="" action="ppaction://noaction"/>
          </p:cNvPr>
          <p:cNvSpPr>
            <a:spLocks noChangeArrowheads="1"/>
          </p:cNvSpPr>
          <p:nvPr/>
        </p:nvSpPr>
        <p:spPr bwMode="auto">
          <a:xfrm>
            <a:off x="6528991" y="83511"/>
            <a:ext cx="457200" cy="457200"/>
          </a:xfrm>
          <a:prstGeom prst="flowChartConnector">
            <a:avLst/>
          </a:prstGeom>
          <a:solidFill>
            <a:schemeClr val="accent1"/>
          </a:solidFill>
          <a:ln w="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algn="r" rtl="1">
              <a:defRPr/>
            </a:pPr>
            <a:endParaRPr lang="fr-FR" sz="1800" b="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49" name="Text Box 13"/>
          <p:cNvSpPr txBox="1">
            <a:spLocks noChangeArrowheads="1"/>
          </p:cNvSpPr>
          <p:nvPr/>
        </p:nvSpPr>
        <p:spPr bwMode="auto">
          <a:xfrm>
            <a:off x="4704114" y="656454"/>
            <a:ext cx="142876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14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Conception</a:t>
            </a:r>
            <a:r>
              <a:rPr lang="fr-FR" sz="1400" i="0" dirty="0" smtClean="0">
                <a:solidFill>
                  <a:srgbClr val="FF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 </a:t>
            </a:r>
            <a:endParaRPr lang="fr-FR" sz="1400" i="0" dirty="0">
              <a:solidFill>
                <a:srgbClr val="FF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7158" y="2099956"/>
            <a:ext cx="813853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important de fournir des services de qualité permettant la bonne organisation des cabinets médicaux pour répondre aux besoins d’un médecin.</a:t>
            </a:r>
          </a:p>
          <a:p>
            <a:endParaRPr lang="fr-FR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projet nous à permis d'avoir une approche du développement des applications bureautiques.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 perspectives nous proposons d’ajouter d’autres taches tel que donner la possibilité à un patient de consulter ses consultations.</a:t>
            </a:r>
          </a:p>
          <a:p>
            <a:endParaRPr lang="fr-F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8072462" y="5715016"/>
            <a:ext cx="714380" cy="571504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19</a:t>
            </a:fld>
            <a:endParaRPr lang="fr-BE" dirty="0"/>
          </a:p>
        </p:txBody>
      </p:sp>
      <p:sp>
        <p:nvSpPr>
          <p:cNvPr id="16" name="Arrondir un rectangle avec un coin du même côté 4"/>
          <p:cNvSpPr/>
          <p:nvPr/>
        </p:nvSpPr>
        <p:spPr>
          <a:xfrm>
            <a:off x="1571604" y="3097110"/>
            <a:ext cx="7203299" cy="467675"/>
          </a:xfrm>
          <a:prstGeom prst="rect">
            <a:avLst/>
          </a:prstGeom>
          <a:scene3d>
            <a:camera prst="orthographicFront"/>
            <a:lightRig rig="threePt" dir="t">
              <a:rot lat="0" lon="0" rev="7500000"/>
            </a:lightRig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0904" tIns="10795" rIns="10795" bIns="10795" numCol="1" spcCol="1270" anchor="ctr" anchorCtr="0">
            <a:noAutofit/>
          </a:bodyPr>
          <a:lstStyle/>
          <a:p>
            <a:pPr marL="171450" lvl="1" indent="-171450" algn="l" defTabSz="7556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fr-FR" sz="1700" kern="1200" dirty="0"/>
          </a:p>
        </p:txBody>
      </p:sp>
      <p:sp>
        <p:nvSpPr>
          <p:cNvPr id="23" name="Titre 1"/>
          <p:cNvSpPr txBox="1">
            <a:spLocks/>
          </p:cNvSpPr>
          <p:nvPr/>
        </p:nvSpPr>
        <p:spPr>
          <a:xfrm>
            <a:off x="323528" y="1772816"/>
            <a:ext cx="8229600" cy="1143000"/>
          </a:xfrm>
          <a:prstGeom prst="rect">
            <a:avLst/>
          </a:prstGeom>
          <a:effectLst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5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Merci Pour Votre Attention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54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☻</a:t>
            </a:r>
            <a:endParaRPr kumimoji="0" lang="fr-FR" sz="5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20229</TotalTime>
  <Words>769</Words>
  <Application>Microsoft Office PowerPoint</Application>
  <PresentationFormat>Affichage à l'écran (4:3)</PresentationFormat>
  <Paragraphs>246</Paragraphs>
  <Slides>19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8" baseType="lpstr">
      <vt:lpstr>SimSun</vt:lpstr>
      <vt:lpstr>SimSun</vt:lpstr>
      <vt:lpstr>Arial</vt:lpstr>
      <vt:lpstr>Calibri</vt:lpstr>
      <vt:lpstr>Century Schoolbook</vt:lpstr>
      <vt:lpstr>Times New Roman</vt:lpstr>
      <vt:lpstr>Wingdings</vt:lpstr>
      <vt:lpstr>Wingdings 2</vt:lpstr>
      <vt:lpstr>Oriel</vt:lpstr>
      <vt:lpstr>Présentation PowerPoint</vt:lpstr>
      <vt:lpstr>Plan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IMEN</dc:creator>
  <cp:lastModifiedBy>Client</cp:lastModifiedBy>
  <cp:revision>1507</cp:revision>
  <dcterms:created xsi:type="dcterms:W3CDTF">2010-05-06T16:33:44Z</dcterms:created>
  <dcterms:modified xsi:type="dcterms:W3CDTF">2017-12-18T16:17:54Z</dcterms:modified>
</cp:coreProperties>
</file>